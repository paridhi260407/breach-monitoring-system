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metadata/core-properties" Target="docProps/core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874"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bit.ly/2TtBDfr" TargetMode="External"/><Relationship Id="rId2" Type="http://schemas.openxmlformats.org/officeDocument/2006/relationships/hyperlink" Target="https://bit.ly/3A1uf1Q"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bg>
      <p:bgPr>
        <a:solidFill>
          <a:schemeClr val="lt1"/>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2189880" y="2574000"/>
            <a:ext cx="4493520" cy="1495800"/>
          </a:xfrm>
          <a:prstGeom prst="rect">
            <a:avLst/>
          </a:prstGeom>
          <a:noFill/>
          <a:ln w="0">
            <a:noFill/>
          </a:ln>
          <a:effectLst>
            <a:outerShdw blurRad="57240" dist="19080" dir="5400000" rotWithShape="0">
              <a:srgbClr val="000000">
                <a:alpha val="50000"/>
              </a:srgbClr>
            </a:outerShdw>
          </a:effectLst>
        </p:spPr>
        <p:txBody>
          <a:bodyPr lIns="91440" tIns="91440" rIns="91440" bIns="91440" anchor="b">
            <a:noAutofit/>
          </a:bodyPr>
          <a:lstStyle/>
          <a:p>
            <a:pPr indent="0">
              <a:buNone/>
            </a:pPr>
            <a:r>
              <a:rPr lang="fr-FR" sz="4200" b="0" u="none" strike="noStrike">
                <a:solidFill>
                  <a:schemeClr val="dk1"/>
                </a:solidFill>
                <a:effectLst/>
                <a:uFillTx/>
                <a:latin typeface="Arial"/>
              </a:rPr>
              <a:t>Click to edit the title text format</a:t>
            </a:r>
          </a:p>
        </p:txBody>
      </p:sp>
      <p:sp>
        <p:nvSpPr>
          <p:cNvPr id="3"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FFFFFF"/>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ONE_COLUMN_TEXT_1">
    <p:bg>
      <p:bgPr>
        <a:solidFill>
          <a:schemeClr val="lt1"/>
        </a:solidFill>
        <a:effectLst/>
      </p:bgPr>
    </p:bg>
    <p:spTree>
      <p:nvGrpSpPr>
        <p:cNvPr id="1" name=""/>
        <p:cNvGrpSpPr/>
        <p:nvPr/>
      </p:nvGrpSpPr>
      <p:grpSpPr>
        <a:xfrm>
          <a:off x="0" y="0"/>
          <a:ext cx="0" cy="0"/>
          <a:chOff x="0" y="0"/>
          <a:chExt cx="0" cy="0"/>
        </a:xfrm>
      </p:grpSpPr>
      <p:sp>
        <p:nvSpPr>
          <p:cNvPr id="4" name="Google Shape;76;p14"/>
          <p:cNvSpPr/>
          <p:nvPr/>
        </p:nvSpPr>
        <p:spPr>
          <a:xfrm>
            <a:off x="118440" y="146520"/>
            <a:ext cx="8907120" cy="1191600"/>
          </a:xfrm>
          <a:prstGeom prst="roundRect">
            <a:avLst>
              <a:gd name="adj" fmla="val 16667"/>
            </a:avLst>
          </a:pr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5" name="PlaceHolder 1"/>
          <p:cNvSpPr>
            <a:spLocks noGrp="1"/>
          </p:cNvSpPr>
          <p:nvPr>
            <p:ph type="title"/>
          </p:nvPr>
        </p:nvSpPr>
        <p:spPr>
          <a:xfrm>
            <a:off x="720000" y="456120"/>
            <a:ext cx="7703640" cy="572400"/>
          </a:xfrm>
          <a:prstGeom prst="rect">
            <a:avLst/>
          </a:prstGeom>
          <a:noFill/>
          <a:ln w="0">
            <a:noFill/>
          </a:ln>
        </p:spPr>
        <p:txBody>
          <a:bodyPr lIns="91440" tIns="91440" rIns="91440" bIns="91440" anchor="t">
            <a:noAutofit/>
          </a:bodyPr>
          <a:lstStyle/>
          <a:p>
            <a:pPr indent="0">
              <a:buNone/>
            </a:pPr>
            <a:r>
              <a:rPr lang="fr-FR" sz="2700" b="0" u="none" strike="noStrike">
                <a:solidFill>
                  <a:schemeClr val="dk1"/>
                </a:solidFill>
                <a:effectLst/>
                <a:uFillTx/>
                <a:latin typeface="Arial"/>
              </a:rPr>
              <a:t>Click to edit the title text format</a:t>
            </a:r>
          </a:p>
        </p:txBody>
      </p:sp>
      <p:sp>
        <p:nvSpPr>
          <p:cNvPr id="6"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FFFFFF"/>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CUSTOM_3">
    <p:bg>
      <p:bgPr>
        <a:solidFill>
          <a:schemeClr val="lt1"/>
        </a:solidFill>
        <a:effectLst/>
      </p:bgPr>
    </p:bg>
    <p:spTree>
      <p:nvGrpSpPr>
        <p:cNvPr id="1" name=""/>
        <p:cNvGrpSpPr/>
        <p:nvPr/>
      </p:nvGrpSpPr>
      <p:grpSpPr>
        <a:xfrm>
          <a:off x="0" y="0"/>
          <a:ext cx="0" cy="0"/>
          <a:chOff x="0" y="0"/>
          <a:chExt cx="0" cy="0"/>
        </a:xfrm>
      </p:grpSpPr>
      <p:sp>
        <p:nvSpPr>
          <p:cNvPr id="7" name="PlaceHolder 1"/>
          <p:cNvSpPr>
            <a:spLocks noGrp="1"/>
          </p:cNvSpPr>
          <p:nvPr>
            <p:ph type="title"/>
          </p:nvPr>
        </p:nvSpPr>
        <p:spPr>
          <a:xfrm>
            <a:off x="2347920" y="830160"/>
            <a:ext cx="4447800" cy="823320"/>
          </a:xfrm>
          <a:prstGeom prst="rect">
            <a:avLst/>
          </a:prstGeom>
          <a:noFill/>
          <a:ln w="0">
            <a:noFill/>
          </a:ln>
        </p:spPr>
        <p:txBody>
          <a:bodyPr lIns="91440" tIns="91440" rIns="91440" bIns="91440" anchor="b">
            <a:noAutofit/>
          </a:bodyPr>
          <a:lstStyle/>
          <a:p>
            <a:pPr indent="0">
              <a:buNone/>
            </a:pPr>
            <a:r>
              <a:rPr lang="fr-FR" sz="4500" b="0" u="none" strike="noStrike">
                <a:solidFill>
                  <a:schemeClr val="dk1"/>
                </a:solidFill>
                <a:effectLst/>
                <a:uFillTx/>
                <a:latin typeface="Arial"/>
              </a:rPr>
              <a:t>Click to edit the title text format</a:t>
            </a:r>
          </a:p>
        </p:txBody>
      </p:sp>
      <p:sp>
        <p:nvSpPr>
          <p:cNvPr id="8" name="Google Shape;106;p17"/>
          <p:cNvSpPr/>
          <p:nvPr/>
        </p:nvSpPr>
        <p:spPr>
          <a:xfrm>
            <a:off x="435600" y="3666960"/>
            <a:ext cx="8272440" cy="1044360"/>
          </a:xfrm>
          <a:prstGeom prst="roundRect">
            <a:avLst>
              <a:gd name="adj" fmla="val 17679"/>
            </a:avLst>
          </a:pr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9" name="Google Shape;107;p17"/>
          <p:cNvSpPr/>
          <p:nvPr/>
        </p:nvSpPr>
        <p:spPr>
          <a:xfrm>
            <a:off x="2099160" y="3710160"/>
            <a:ext cx="4945320" cy="55584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algn="ctr" defTabSz="914400">
              <a:lnSpc>
                <a:spcPct val="115000"/>
              </a:lnSpc>
              <a:tabLst>
                <a:tab pos="0" algn="l"/>
              </a:tabLst>
            </a:pPr>
            <a:r>
              <a:rPr lang="en" sz="1200" b="0" u="none" strike="noStrike">
                <a:solidFill>
                  <a:schemeClr val="dk1"/>
                </a:solidFill>
                <a:effectLst/>
                <a:uFillTx/>
                <a:latin typeface="Funnel Sans"/>
                <a:ea typeface="Funnel Sans"/>
              </a:rPr>
              <a:t>CREDITS: This presentation template was created by </a:t>
            </a:r>
            <a:r>
              <a:rPr lang="en" sz="1200" b="1" u="sng" strike="noStrike">
                <a:solidFill>
                  <a:schemeClr val="hlink"/>
                </a:solidFill>
                <a:effectLst/>
                <a:uFillTx/>
                <a:latin typeface="Funnel Sans"/>
                <a:ea typeface="Funnel Sans"/>
                <a:hlinkClick r:id="rId2"/>
              </a:rPr>
              <a:t>Slidesgo</a:t>
            </a:r>
            <a:r>
              <a:rPr lang="en" sz="1200" b="1" u="none" strike="noStrike">
                <a:solidFill>
                  <a:schemeClr val="dk1"/>
                </a:solidFill>
                <a:effectLst/>
                <a:uFillTx/>
                <a:latin typeface="Funnel Sans"/>
                <a:ea typeface="Funnel Sans"/>
              </a:rPr>
              <a:t>,</a:t>
            </a:r>
            <a:r>
              <a:rPr lang="en" sz="1200" b="0" u="none" strike="noStrike">
                <a:solidFill>
                  <a:schemeClr val="dk1"/>
                </a:solidFill>
                <a:effectLst/>
                <a:uFillTx/>
                <a:latin typeface="Funnel Sans"/>
                <a:ea typeface="Funnel Sans"/>
              </a:rPr>
              <a:t> and includes icons, infographics &amp; images by </a:t>
            </a:r>
            <a:r>
              <a:rPr lang="en" sz="1200" b="1" u="sng" strike="noStrike">
                <a:solidFill>
                  <a:schemeClr val="dk1"/>
                </a:solidFill>
                <a:effectLst/>
                <a:uFillTx/>
                <a:latin typeface="Funnel Sans"/>
                <a:ea typeface="Funnel Sans"/>
                <a:hlinkClick r:id="rId3"/>
              </a:rPr>
              <a:t>Freepik</a:t>
            </a:r>
            <a:r>
              <a:rPr lang="en" sz="1200" b="1" u="sng" strike="noStrike">
                <a:solidFill>
                  <a:schemeClr val="dk1"/>
                </a:solidFill>
                <a:effectLst/>
                <a:uFillTx/>
                <a:latin typeface="Funnel Sans"/>
                <a:ea typeface="Funnel Sans"/>
              </a:rPr>
              <a:t> </a:t>
            </a:r>
            <a:endParaRPr lang="en-US" sz="1200" b="0" u="none" strike="noStrike">
              <a:solidFill>
                <a:srgbClr val="FFFFFF"/>
              </a:solidFill>
              <a:effectLst/>
              <a:uFillTx/>
              <a:latin typeface="OpenSymbol"/>
            </a:endParaRPr>
          </a:p>
        </p:txBody>
      </p:sp>
      <p:sp>
        <p:nvSpPr>
          <p:cNvPr id="10" name="Google Shape;108;p17"/>
          <p:cNvSpPr/>
          <p:nvPr/>
        </p:nvSpPr>
        <p:spPr>
          <a:xfrm>
            <a:off x="435600" y="557640"/>
            <a:ext cx="8272440" cy="2968920"/>
          </a:xfrm>
          <a:prstGeom prst="roundRect">
            <a:avLst>
              <a:gd name="adj" fmla="val 7654"/>
            </a:avLst>
          </a:prstGeom>
          <a:noFill/>
          <a:ln w="9525">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_ONLY">
    <p:bg>
      <p:bgPr>
        <a:solidFill>
          <a:schemeClr val="lt1"/>
        </a:solidFill>
        <a:effectLst/>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720000" y="458640"/>
            <a:ext cx="7703640" cy="572400"/>
          </a:xfrm>
          <a:prstGeom prst="rect">
            <a:avLst/>
          </a:prstGeom>
          <a:noFill/>
          <a:ln w="0">
            <a:noFill/>
          </a:ln>
        </p:spPr>
        <p:txBody>
          <a:bodyPr lIns="91440" tIns="91440" rIns="91440" bIns="91440" anchor="t">
            <a:noAutofit/>
          </a:bodyPr>
          <a:lstStyle/>
          <a:p>
            <a:pPr indent="0">
              <a:buNone/>
            </a:pPr>
            <a:r>
              <a:rPr lang="fr-FR" sz="2700" b="0" u="none" strike="noStrike">
                <a:solidFill>
                  <a:schemeClr val="dk1"/>
                </a:solidFill>
                <a:effectLst/>
                <a:uFillTx/>
                <a:latin typeface="Arial"/>
              </a:rPr>
              <a:t>Click to edit the title text format</a:t>
            </a:r>
          </a:p>
        </p:txBody>
      </p:sp>
      <p:sp>
        <p:nvSpPr>
          <p:cNvPr id="12" name="Google Shape;28;p6"/>
          <p:cNvSpPr/>
          <p:nvPr/>
        </p:nvSpPr>
        <p:spPr>
          <a:xfrm>
            <a:off x="136080" y="132480"/>
            <a:ext cx="8871840" cy="4952520"/>
          </a:xfrm>
          <a:prstGeom prst="roundRect">
            <a:avLst>
              <a:gd name="adj" fmla="val 5521"/>
            </a:avLst>
          </a:prstGeom>
          <a:noFill/>
          <a:ln w="9525">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13"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FFFFFF"/>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Google Shape;128;p24"/>
          <p:cNvPicPr/>
          <p:nvPr/>
        </p:nvPicPr>
        <p:blipFill>
          <a:blip r:embed="rId2"/>
          <a:stretch/>
        </p:blipFill>
        <p:spPr>
          <a:xfrm>
            <a:off x="0" y="0"/>
            <a:ext cx="9143640" cy="5143320"/>
          </a:xfrm>
          <a:prstGeom prst="rect">
            <a:avLst/>
          </a:prstGeom>
          <a:noFill/>
          <a:ln w="0">
            <a:noFill/>
          </a:ln>
        </p:spPr>
      </p:pic>
      <p:grpSp>
        <p:nvGrpSpPr>
          <p:cNvPr id="15" name="Google Shape;129;p24"/>
          <p:cNvGrpSpPr/>
          <p:nvPr/>
        </p:nvGrpSpPr>
        <p:grpSpPr>
          <a:xfrm>
            <a:off x="250902" y="228600"/>
            <a:ext cx="8672400" cy="4656960"/>
            <a:chOff x="228600" y="228600"/>
            <a:chExt cx="8672400" cy="4656960"/>
          </a:xfrm>
        </p:grpSpPr>
        <p:sp>
          <p:nvSpPr>
            <p:cNvPr id="16" name="Google Shape;130;p24"/>
            <p:cNvSpPr/>
            <p:nvPr/>
          </p:nvSpPr>
          <p:spPr>
            <a:xfrm>
              <a:off x="2050200" y="257760"/>
              <a:ext cx="6850800" cy="3777120"/>
            </a:xfrm>
            <a:prstGeom prst="roundRect">
              <a:avLst>
                <a:gd name="adj" fmla="val 7195"/>
              </a:avLst>
            </a:prstGeom>
            <a:noFill/>
            <a:ln w="9525">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17" name="Google Shape;131;p24"/>
            <p:cNvSpPr/>
            <p:nvPr/>
          </p:nvSpPr>
          <p:spPr>
            <a:xfrm>
              <a:off x="2050200" y="4174560"/>
              <a:ext cx="6850800" cy="710640"/>
            </a:xfrm>
            <a:prstGeom prst="roundRect">
              <a:avLst>
                <a:gd name="adj" fmla="val 24504"/>
              </a:avLst>
            </a:prstGeom>
            <a:noFill/>
            <a:ln w="9525">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grpSp>
          <p:nvGrpSpPr>
            <p:cNvPr id="18" name="Google Shape;132;p24"/>
            <p:cNvGrpSpPr/>
            <p:nvPr/>
          </p:nvGrpSpPr>
          <p:grpSpPr>
            <a:xfrm>
              <a:off x="228600" y="228600"/>
              <a:ext cx="1673640" cy="4656960"/>
              <a:chOff x="228600" y="228600"/>
              <a:chExt cx="1673640" cy="4656960"/>
            </a:xfrm>
          </p:grpSpPr>
          <p:sp>
            <p:nvSpPr>
              <p:cNvPr id="19" name="Google Shape;133;p24"/>
              <p:cNvSpPr/>
              <p:nvPr/>
            </p:nvSpPr>
            <p:spPr>
              <a:xfrm>
                <a:off x="228600" y="228600"/>
                <a:ext cx="1673640" cy="4656960"/>
              </a:xfrm>
              <a:prstGeom prst="roundRect">
                <a:avLst>
                  <a:gd name="adj" fmla="val 13823"/>
                </a:avLst>
              </a:pr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20" name="Google Shape;134;p24"/>
              <p:cNvSpPr/>
              <p:nvPr/>
            </p:nvSpPr>
            <p:spPr>
              <a:xfrm>
                <a:off x="313560" y="334440"/>
                <a:ext cx="1498320" cy="236520"/>
              </a:xfrm>
              <a:prstGeom prst="roundRect">
                <a:avLst>
                  <a:gd name="adj" fmla="val 50000"/>
                </a:avLst>
              </a:prstGeom>
              <a:solidFill>
                <a:schemeClr val="lt2"/>
              </a:solidFill>
              <a:ln w="9525">
                <a:solidFill>
                  <a:srgbClr val="00FFA4"/>
                </a:solidFill>
                <a:round/>
              </a:ln>
            </p:spPr>
            <p:style>
              <a:lnRef idx="0">
                <a:scrgbClr r="0" g="0" b="0"/>
              </a:lnRef>
              <a:fillRef idx="0">
                <a:scrgbClr r="0" g="0" b="0"/>
              </a:fillRef>
              <a:effectRef idx="0">
                <a:scrgbClr r="0" g="0" b="0"/>
              </a:effectRef>
              <a:fontRef idx="minor"/>
            </p:style>
            <p:txBody>
              <a:bodyPr tIns="83520" bIns="835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grpSp>
      </p:grpSp>
      <p:sp>
        <p:nvSpPr>
          <p:cNvPr id="21" name="Rectangle 20"/>
          <p:cNvSpPr/>
          <p:nvPr/>
        </p:nvSpPr>
        <p:spPr>
          <a:xfrm>
            <a:off x="2190600" y="2571840"/>
            <a:ext cx="4495320" cy="533160"/>
          </a:xfrm>
          <a:prstGeom prst="rect">
            <a:avLst/>
          </a:prstGeom>
          <a:noFill/>
          <a:ln w="0">
            <a:noFill/>
          </a:ln>
        </p:spPr>
        <p:style>
          <a:lnRef idx="0">
            <a:scrgbClr r="0" g="0" b="0"/>
          </a:lnRef>
          <a:fillRef idx="0">
            <a:scrgbClr r="0" g="0" b="0"/>
          </a:fillRef>
          <a:effectRef idx="0">
            <a:scrgbClr r="0" g="0" b="0"/>
          </a:effectRef>
          <a:fontRef idx="minor"/>
        </p:style>
        <p:txBody>
          <a:bodyPr anchor="b">
            <a:normAutofit fontScale="85000" lnSpcReduction="19999"/>
          </a:bodyPr>
          <a:lstStyle/>
          <a:p>
            <a:pPr defTabSz="914400">
              <a:lnSpc>
                <a:spcPct val="100000"/>
              </a:lnSpc>
              <a:tabLst>
                <a:tab pos="0" algn="l"/>
              </a:tabLst>
            </a:pPr>
            <a:r>
              <a:rPr lang="en-US" sz="4200" b="1" u="none" strike="noStrike">
                <a:solidFill>
                  <a:srgbClr val="FFFFFF"/>
                </a:solidFill>
                <a:effectLst/>
                <a:uFillTx/>
                <a:latin typeface="Manrope"/>
              </a:rPr>
              <a:t>BreachAlert</a:t>
            </a:r>
            <a:endParaRPr lang="en-US" sz="4200" b="0" u="none" strike="noStrike">
              <a:solidFill>
                <a:srgbClr val="FFFFFF"/>
              </a:solidFill>
              <a:effectLst/>
              <a:uFillTx/>
              <a:latin typeface="OpenSymbol"/>
            </a:endParaRPr>
          </a:p>
        </p:txBody>
      </p:sp>
      <p:sp>
        <p:nvSpPr>
          <p:cNvPr id="22" name="Rectangle 21"/>
          <p:cNvSpPr/>
          <p:nvPr/>
        </p:nvSpPr>
        <p:spPr>
          <a:xfrm>
            <a:off x="2190600" y="4324320"/>
            <a:ext cx="5800320" cy="76176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50000"/>
              </a:lnSpc>
              <a:tabLst>
                <a:tab pos="0" algn="l"/>
              </a:tabLst>
            </a:pPr>
            <a:r>
              <a:rPr lang="en-US" sz="1600" b="0" u="none" strike="noStrike">
                <a:solidFill>
                  <a:srgbClr val="FFFFFF"/>
                </a:solidFill>
                <a:effectLst/>
                <a:uFillTx/>
                <a:latin typeface="Funnel Sans Light"/>
              </a:rPr>
              <a:t>Personal data breach monitoring — internship project review</a:t>
            </a:r>
            <a:endParaRPr lang="en-US" sz="1600" b="0" u="none" strike="noStrike">
              <a:solidFill>
                <a:srgbClr val="FFFFFF"/>
              </a:solidFill>
              <a:effectLst/>
              <a:uFillTx/>
              <a:latin typeface="OpenSymbo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Google Shape;224;p28"/>
          <p:cNvGrpSpPr/>
          <p:nvPr/>
        </p:nvGrpSpPr>
        <p:grpSpPr>
          <a:xfrm>
            <a:off x="118440" y="1505520"/>
            <a:ext cx="8907120" cy="3546720"/>
            <a:chOff x="118440" y="1505520"/>
            <a:chExt cx="8907120" cy="3546720"/>
          </a:xfrm>
        </p:grpSpPr>
        <p:sp>
          <p:nvSpPr>
            <p:cNvPr id="24" name="Google Shape;225;p28"/>
            <p:cNvSpPr/>
            <p:nvPr/>
          </p:nvSpPr>
          <p:spPr>
            <a:xfrm>
              <a:off x="118440" y="1505520"/>
              <a:ext cx="8906760" cy="3157920"/>
            </a:xfrm>
            <a:prstGeom prst="roundRect">
              <a:avLst>
                <a:gd name="adj" fmla="val 5521"/>
              </a:avLst>
            </a:prstGeom>
            <a:noFill/>
            <a:ln w="9525">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25" name="Google Shape;226;p28"/>
            <p:cNvSpPr/>
            <p:nvPr/>
          </p:nvSpPr>
          <p:spPr>
            <a:xfrm rot="5400000">
              <a:off x="4471200" y="497880"/>
              <a:ext cx="201600" cy="8906760"/>
            </a:xfrm>
            <a:prstGeom prst="roundRect">
              <a:avLst>
                <a:gd name="adj" fmla="val 50000"/>
              </a:avLst>
            </a:prstGeom>
            <a:noFill/>
            <a:ln w="9525">
              <a:solidFill>
                <a:srgbClr val="00FFA4"/>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26" name="Rectangle 25"/>
          <p:cNvSpPr/>
          <p:nvPr/>
        </p:nvSpPr>
        <p:spPr>
          <a:xfrm>
            <a:off x="723960" y="457200"/>
            <a:ext cx="7705440" cy="34272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70000" lnSpcReduction="19999"/>
          </a:bodyPr>
          <a:lstStyle/>
          <a:p>
            <a:pPr algn="ctr" defTabSz="914400">
              <a:lnSpc>
                <a:spcPct val="100000"/>
              </a:lnSpc>
              <a:tabLst>
                <a:tab pos="0" algn="l"/>
              </a:tabLst>
            </a:pPr>
            <a:r>
              <a:rPr lang="en-US" sz="2700" b="1" u="none" strike="noStrike">
                <a:solidFill>
                  <a:srgbClr val="FFFFFF"/>
                </a:solidFill>
                <a:effectLst/>
                <a:uFillTx/>
                <a:latin typeface="Manrope"/>
              </a:rPr>
              <a:t>MVP Demonstrated</a:t>
            </a:r>
            <a:endParaRPr lang="en-US" sz="2700" b="0" u="none" strike="noStrike">
              <a:solidFill>
                <a:srgbClr val="FFFFFF"/>
              </a:solidFill>
              <a:effectLst/>
              <a:uFillTx/>
              <a:latin typeface="OpenSymbol"/>
            </a:endParaRPr>
          </a:p>
        </p:txBody>
      </p:sp>
      <p:sp>
        <p:nvSpPr>
          <p:cNvPr id="27" name="Rectangle 26"/>
          <p:cNvSpPr/>
          <p:nvPr/>
        </p:nvSpPr>
        <p:spPr>
          <a:xfrm>
            <a:off x="695160" y="1809720"/>
            <a:ext cx="7762680" cy="1333080"/>
          </a:xfrm>
          <a:prstGeom prst="rect">
            <a:avLst/>
          </a:prstGeom>
          <a:noFill/>
          <a:ln w="0">
            <a:noFill/>
          </a:ln>
        </p:spPr>
        <p:style>
          <a:lnRef idx="0">
            <a:scrgbClr r="0" g="0" b="0"/>
          </a:lnRef>
          <a:fillRef idx="0">
            <a:scrgbClr r="0" g="0" b="0"/>
          </a:fillRef>
          <a:effectRef idx="0">
            <a:scrgbClr r="0" g="0" b="0"/>
          </a:effectRef>
          <a:fontRef idx="minor"/>
        </p:style>
        <p:txBody>
          <a:bodyPr anchor="t">
            <a:normAutofit lnSpcReduction="9999"/>
          </a:bodyPr>
          <a:lstStyle/>
          <a:p>
            <a:pPr defTabSz="914400">
              <a:lnSpc>
                <a:spcPct val="150000"/>
              </a:lnSpc>
              <a:tabLst>
                <a:tab pos="0" algn="l"/>
              </a:tabLst>
            </a:pPr>
            <a:r>
              <a:rPr lang="en-US" sz="1400" b="0" u="none" strike="noStrike">
                <a:solidFill>
                  <a:srgbClr val="FFFFFF"/>
                </a:solidFill>
                <a:effectLst/>
                <a:uFillTx/>
                <a:latin typeface="Funnel Sans"/>
              </a:rPr>
              <a:t>Core workflow is implemented and demonstrated: user registration → monitoring → breach detection → email alert. Authentication, verification, caching, and basic subscription logic are functional. UI mockups and a working dashboard exist, with deployment pipelines set for Vercel (frontend) and Render (backend). Production hardening and rigorous edge-case testing remain required before public launch</a:t>
            </a:r>
            <a:endParaRPr lang="en-US" sz="1400" b="0" u="none" strike="noStrike">
              <a:solidFill>
                <a:srgbClr val="FFFFFF"/>
              </a:solidFill>
              <a:effectLst/>
              <a:uFillTx/>
              <a:latin typeface="OpenSymbo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 name="Google Shape;146;p25"/>
          <p:cNvPicPr/>
          <p:nvPr/>
        </p:nvPicPr>
        <p:blipFill>
          <a:blip r:embed="rId2"/>
          <a:stretch/>
        </p:blipFill>
        <p:spPr>
          <a:xfrm>
            <a:off x="8106840" y="4953240"/>
            <a:ext cx="861480" cy="131400"/>
          </a:xfrm>
          <a:prstGeom prst="rect">
            <a:avLst/>
          </a:prstGeom>
          <a:noFill/>
          <a:ln w="0">
            <a:noFill/>
          </a:ln>
        </p:spPr>
      </p:pic>
      <p:sp>
        <p:nvSpPr>
          <p:cNvPr id="29" name="Rectangle: Rounded Corners 28"/>
          <p:cNvSpPr/>
          <p:nvPr/>
        </p:nvSpPr>
        <p:spPr>
          <a:xfrm>
            <a:off x="4924440" y="590400"/>
            <a:ext cx="3400200" cy="1152000"/>
          </a:xfrm>
          <a:prstGeom prst="roundRect">
            <a:avLst>
              <a:gd name="adj" fmla="val 16667"/>
            </a:avLst>
          </a:prstGeom>
          <a:noFill/>
          <a:ln w="9525">
            <a:solidFill>
              <a:srgbClr val="FFFFFF"/>
            </a:solidFill>
            <a:round/>
          </a:ln>
        </p:spPr>
        <p:style>
          <a:lnRef idx="0">
            <a:scrgbClr r="0" g="0" b="0"/>
          </a:lnRef>
          <a:fillRef idx="0">
            <a:scrgbClr r="0" g="0" b="0"/>
          </a:fillRef>
          <a:effectRef idx="0">
            <a:scrgbClr r="0" g="0" b="0"/>
          </a:effectRef>
          <a:fontRef idx="minor"/>
        </p:style>
        <p:txBody>
          <a:bodyPr vertOverflow="clip" lIns="90000" tIns="45000" rIns="90000" bIns="45000" anchor="ctr">
            <a:noAutofit/>
          </a:bodyPr>
          <a:lstStyle/>
          <a:p>
            <a:pPr algn="ctr" defTabSz="914400">
              <a:lnSpc>
                <a:spcPct val="100000"/>
              </a:lnSpc>
            </a:pPr>
            <a:endParaRPr lang="en-US" sz="1800" b="0" u="none" strike="noStrike">
              <a:solidFill>
                <a:srgbClr val="FFFFFF"/>
              </a:solidFill>
              <a:effectLst/>
              <a:uFillTx/>
              <a:latin typeface="OpenSymbol"/>
            </a:endParaRPr>
          </a:p>
        </p:txBody>
      </p:sp>
      <p:sp>
        <p:nvSpPr>
          <p:cNvPr id="30" name="Rectangle: Rounded Corners 29"/>
          <p:cNvSpPr/>
          <p:nvPr/>
        </p:nvSpPr>
        <p:spPr>
          <a:xfrm>
            <a:off x="4924440" y="1924200"/>
            <a:ext cx="3400200" cy="1152000"/>
          </a:xfrm>
          <a:prstGeom prst="roundRect">
            <a:avLst>
              <a:gd name="adj" fmla="val 16667"/>
            </a:avLst>
          </a:prstGeom>
          <a:noFill/>
          <a:ln w="9525">
            <a:solidFill>
              <a:srgbClr val="FFFFFF"/>
            </a:solidFill>
            <a:round/>
          </a:ln>
        </p:spPr>
        <p:style>
          <a:lnRef idx="0">
            <a:scrgbClr r="0" g="0" b="0"/>
          </a:lnRef>
          <a:fillRef idx="0">
            <a:scrgbClr r="0" g="0" b="0"/>
          </a:fillRef>
          <a:effectRef idx="0">
            <a:scrgbClr r="0" g="0" b="0"/>
          </a:effectRef>
          <a:fontRef idx="minor"/>
        </p:style>
        <p:txBody>
          <a:bodyPr vertOverflow="clip" lIns="90000" tIns="45000" rIns="90000" bIns="45000" anchor="ctr">
            <a:noAutofit/>
          </a:bodyPr>
          <a:lstStyle/>
          <a:p>
            <a:pPr algn="ctr" defTabSz="914400">
              <a:lnSpc>
                <a:spcPct val="100000"/>
              </a:lnSpc>
            </a:pPr>
            <a:endParaRPr lang="en-US" sz="1800" b="0" u="none" strike="noStrike">
              <a:solidFill>
                <a:srgbClr val="FFFFFF"/>
              </a:solidFill>
              <a:effectLst/>
              <a:uFillTx/>
              <a:latin typeface="OpenSymbol"/>
            </a:endParaRPr>
          </a:p>
        </p:txBody>
      </p:sp>
      <p:sp>
        <p:nvSpPr>
          <p:cNvPr id="31" name="Rectangle: Rounded Corners 30"/>
          <p:cNvSpPr/>
          <p:nvPr/>
        </p:nvSpPr>
        <p:spPr>
          <a:xfrm>
            <a:off x="4924440" y="3267000"/>
            <a:ext cx="3400200" cy="1152000"/>
          </a:xfrm>
          <a:prstGeom prst="roundRect">
            <a:avLst>
              <a:gd name="adj" fmla="val 16667"/>
            </a:avLst>
          </a:prstGeom>
          <a:noFill/>
          <a:ln w="9525">
            <a:solidFill>
              <a:srgbClr val="FFFFFF"/>
            </a:solidFill>
            <a:round/>
          </a:ln>
        </p:spPr>
        <p:style>
          <a:lnRef idx="0">
            <a:scrgbClr r="0" g="0" b="0"/>
          </a:lnRef>
          <a:fillRef idx="0">
            <a:scrgbClr r="0" g="0" b="0"/>
          </a:fillRef>
          <a:effectRef idx="0">
            <a:scrgbClr r="0" g="0" b="0"/>
          </a:effectRef>
          <a:fontRef idx="minor"/>
        </p:style>
        <p:txBody>
          <a:bodyPr vertOverflow="clip" lIns="90000" tIns="45000" rIns="90000" bIns="45000" anchor="ctr">
            <a:noAutofit/>
          </a:bodyPr>
          <a:lstStyle/>
          <a:p>
            <a:pPr algn="ctr" defTabSz="914400">
              <a:lnSpc>
                <a:spcPct val="100000"/>
              </a:lnSpc>
            </a:pPr>
            <a:endParaRPr lang="en-US" sz="1800" b="0" u="none" strike="noStrike">
              <a:solidFill>
                <a:srgbClr val="FFFFFF"/>
              </a:solidFill>
              <a:effectLst/>
              <a:uFillTx/>
              <a:latin typeface="OpenSymbol"/>
            </a:endParaRPr>
          </a:p>
        </p:txBody>
      </p:sp>
      <p:sp>
        <p:nvSpPr>
          <p:cNvPr id="32" name="Rectangle 31"/>
          <p:cNvSpPr/>
          <p:nvPr/>
        </p:nvSpPr>
        <p:spPr>
          <a:xfrm>
            <a:off x="819000" y="628560"/>
            <a:ext cx="3314520" cy="36144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85000" lnSpcReduction="19999"/>
          </a:bodyPr>
          <a:lstStyle/>
          <a:p>
            <a:pPr defTabSz="914400">
              <a:lnSpc>
                <a:spcPct val="100000"/>
              </a:lnSpc>
              <a:tabLst>
                <a:tab pos="0" algn="l"/>
              </a:tabLst>
            </a:pPr>
            <a:r>
              <a:rPr lang="en-US" sz="2400" b="1" u="none" strike="noStrike">
                <a:solidFill>
                  <a:srgbClr val="FFFFFF"/>
                </a:solidFill>
                <a:effectLst/>
                <a:uFillTx/>
                <a:latin typeface="Manrope"/>
              </a:rPr>
              <a:t>Breaches Up 11%</a:t>
            </a:r>
            <a:endParaRPr lang="en-US" sz="2400" b="0" u="none" strike="noStrike">
              <a:solidFill>
                <a:srgbClr val="FFFFFF"/>
              </a:solidFill>
              <a:effectLst/>
              <a:uFillTx/>
              <a:latin typeface="OpenSymbol"/>
            </a:endParaRPr>
          </a:p>
        </p:txBody>
      </p:sp>
      <p:sp>
        <p:nvSpPr>
          <p:cNvPr id="33" name="Rectangle 32"/>
          <p:cNvSpPr/>
          <p:nvPr/>
        </p:nvSpPr>
        <p:spPr>
          <a:xfrm>
            <a:off x="819000" y="3333600"/>
            <a:ext cx="3314520" cy="6379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1400" b="0" u="none" strike="noStrike">
                <a:solidFill>
                  <a:srgbClr val="FFFFFF"/>
                </a:solidFill>
                <a:effectLst/>
                <a:uFillTx/>
                <a:latin typeface="Funnel Sans"/>
              </a:rPr>
              <a:t>Rising breaches and slow detection elevate risk of identity theft and financial fraud.</a:t>
            </a:r>
            <a:endParaRPr lang="en-US" sz="1400" b="0" u="none" strike="noStrike">
              <a:solidFill>
                <a:srgbClr val="FFFFFF"/>
              </a:solidFill>
              <a:effectLst/>
              <a:uFillTx/>
              <a:latin typeface="OpenSymbol"/>
            </a:endParaRPr>
          </a:p>
        </p:txBody>
      </p:sp>
      <p:sp>
        <p:nvSpPr>
          <p:cNvPr id="34" name="Rectangle 33"/>
          <p:cNvSpPr/>
          <p:nvPr/>
        </p:nvSpPr>
        <p:spPr>
          <a:xfrm>
            <a:off x="5162400" y="628560"/>
            <a:ext cx="2923920" cy="7045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3600" b="0" u="none" strike="noStrike">
                <a:solidFill>
                  <a:srgbClr val="FFFFFF"/>
                </a:solidFill>
                <a:effectLst/>
                <a:uFillTx/>
                <a:latin typeface="Funnel Sans"/>
              </a:rPr>
              <a:t>11%</a:t>
            </a:r>
            <a:endParaRPr lang="en-US" sz="3600" b="0" u="none" strike="noStrike">
              <a:solidFill>
                <a:srgbClr val="FFFFFF"/>
              </a:solidFill>
              <a:effectLst/>
              <a:uFillTx/>
              <a:latin typeface="OpenSymbol"/>
            </a:endParaRPr>
          </a:p>
        </p:txBody>
      </p:sp>
      <p:sp>
        <p:nvSpPr>
          <p:cNvPr id="35" name="Rectangle 34"/>
          <p:cNvSpPr/>
          <p:nvPr/>
        </p:nvSpPr>
        <p:spPr>
          <a:xfrm>
            <a:off x="5162400" y="1162080"/>
            <a:ext cx="2923920" cy="36144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85000" lnSpcReduction="19999"/>
          </a:bodyPr>
          <a:lstStyle/>
          <a:p>
            <a:pPr defTabSz="914400">
              <a:lnSpc>
                <a:spcPct val="100000"/>
              </a:lnSpc>
              <a:tabLst>
                <a:tab pos="0" algn="l"/>
              </a:tabLst>
            </a:pPr>
            <a:r>
              <a:rPr lang="en-US" sz="1200" b="0" u="none" strike="noStrike">
                <a:solidFill>
                  <a:srgbClr val="FFFFFF"/>
                </a:solidFill>
                <a:effectLst/>
                <a:uFillTx/>
                <a:latin typeface="Funnel Sans"/>
              </a:rPr>
              <a:t>Data breaches rose YoY (public data) — signaling growing exposure.</a:t>
            </a:r>
            <a:endParaRPr lang="en-US" sz="1200" b="0" u="none" strike="noStrike">
              <a:solidFill>
                <a:srgbClr val="FFFFFF"/>
              </a:solidFill>
              <a:effectLst/>
              <a:uFillTx/>
              <a:latin typeface="OpenSymbol"/>
            </a:endParaRPr>
          </a:p>
        </p:txBody>
      </p:sp>
      <p:sp>
        <p:nvSpPr>
          <p:cNvPr id="36" name="Rectangle 35"/>
          <p:cNvSpPr/>
          <p:nvPr/>
        </p:nvSpPr>
        <p:spPr>
          <a:xfrm>
            <a:off x="5162400" y="1962000"/>
            <a:ext cx="2923920" cy="7045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3600" b="0" u="none" strike="noStrike">
                <a:solidFill>
                  <a:srgbClr val="FFFFFF"/>
                </a:solidFill>
                <a:effectLst/>
                <a:uFillTx/>
                <a:latin typeface="Funnel Sans"/>
              </a:rPr>
              <a:t>197 days</a:t>
            </a:r>
            <a:endParaRPr lang="en-US" sz="3600" b="0" u="none" strike="noStrike">
              <a:solidFill>
                <a:srgbClr val="FFFFFF"/>
              </a:solidFill>
              <a:effectLst/>
              <a:uFillTx/>
              <a:latin typeface="OpenSymbol"/>
            </a:endParaRPr>
          </a:p>
        </p:txBody>
      </p:sp>
      <p:sp>
        <p:nvSpPr>
          <p:cNvPr id="37" name="Rectangle 36"/>
          <p:cNvSpPr/>
          <p:nvPr/>
        </p:nvSpPr>
        <p:spPr>
          <a:xfrm>
            <a:off x="5162400" y="2505240"/>
            <a:ext cx="2923920" cy="36144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85000" lnSpcReduction="19999"/>
          </a:bodyPr>
          <a:lstStyle/>
          <a:p>
            <a:pPr defTabSz="914400">
              <a:lnSpc>
                <a:spcPct val="100000"/>
              </a:lnSpc>
              <a:tabLst>
                <a:tab pos="0" algn="l"/>
              </a:tabLst>
            </a:pPr>
            <a:r>
              <a:rPr lang="en-US" sz="1200" b="0" u="none" strike="noStrike">
                <a:solidFill>
                  <a:srgbClr val="FFFFFF"/>
                </a:solidFill>
                <a:effectLst/>
                <a:uFillTx/>
                <a:latin typeface="Funnel Sans"/>
              </a:rPr>
              <a:t>Average time to detect a breach remains lengthy, delaying response.</a:t>
            </a:r>
            <a:endParaRPr lang="en-US" sz="1200" b="0" u="none" strike="noStrike">
              <a:solidFill>
                <a:srgbClr val="FFFFFF"/>
              </a:solidFill>
              <a:effectLst/>
              <a:uFillTx/>
              <a:latin typeface="OpenSymbol"/>
            </a:endParaRPr>
          </a:p>
        </p:txBody>
      </p:sp>
      <p:sp>
        <p:nvSpPr>
          <p:cNvPr id="38" name="Rectangle 37"/>
          <p:cNvSpPr/>
          <p:nvPr/>
        </p:nvSpPr>
        <p:spPr>
          <a:xfrm>
            <a:off x="5162400" y="3295800"/>
            <a:ext cx="2923920" cy="7045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3600" b="0" u="none" strike="noStrike">
                <a:solidFill>
                  <a:srgbClr val="FFFFFF"/>
                </a:solidFill>
                <a:effectLst/>
                <a:uFillTx/>
                <a:latin typeface="Funnel Sans"/>
              </a:rPr>
              <a:t>59%</a:t>
            </a:r>
            <a:endParaRPr lang="en-US" sz="3600" b="0" u="none" strike="noStrike">
              <a:solidFill>
                <a:srgbClr val="FFFFFF"/>
              </a:solidFill>
              <a:effectLst/>
              <a:uFillTx/>
              <a:latin typeface="OpenSymbol"/>
            </a:endParaRPr>
          </a:p>
        </p:txBody>
      </p:sp>
      <p:sp>
        <p:nvSpPr>
          <p:cNvPr id="39" name="Rectangle 38"/>
          <p:cNvSpPr/>
          <p:nvPr/>
        </p:nvSpPr>
        <p:spPr>
          <a:xfrm>
            <a:off x="5162400" y="3838680"/>
            <a:ext cx="2923920" cy="36144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85000" lnSpcReduction="19999"/>
          </a:bodyPr>
          <a:lstStyle/>
          <a:p>
            <a:pPr defTabSz="914400">
              <a:lnSpc>
                <a:spcPct val="100000"/>
              </a:lnSpc>
              <a:tabLst>
                <a:tab pos="0" algn="l"/>
              </a:tabLst>
            </a:pPr>
            <a:r>
              <a:rPr lang="en-US" sz="1200" b="0" u="none" strike="noStrike">
                <a:solidFill>
                  <a:srgbClr val="FFFFFF"/>
                </a:solidFill>
                <a:effectLst/>
                <a:uFillTx/>
                <a:latin typeface="Funnel Sans"/>
              </a:rPr>
              <a:t>Password reuse observed among users — increasing compromise risk.</a:t>
            </a:r>
            <a:endParaRPr lang="en-US" sz="1200" b="0" u="none" strike="noStrike">
              <a:solidFill>
                <a:srgbClr val="FFFFFF"/>
              </a:solidFill>
              <a:effectLst/>
              <a:uFillTx/>
              <a:latin typeface="OpenSymbo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Google Shape;224;p28"/>
          <p:cNvGrpSpPr/>
          <p:nvPr/>
        </p:nvGrpSpPr>
        <p:grpSpPr>
          <a:xfrm>
            <a:off x="118440" y="1505520"/>
            <a:ext cx="8907120" cy="3546720"/>
            <a:chOff x="118440" y="1505520"/>
            <a:chExt cx="8907120" cy="3546720"/>
          </a:xfrm>
        </p:grpSpPr>
        <p:sp>
          <p:nvSpPr>
            <p:cNvPr id="41" name="Google Shape;225;p28"/>
            <p:cNvSpPr/>
            <p:nvPr/>
          </p:nvSpPr>
          <p:spPr>
            <a:xfrm>
              <a:off x="118440" y="1505520"/>
              <a:ext cx="8906760" cy="3157920"/>
            </a:xfrm>
            <a:prstGeom prst="roundRect">
              <a:avLst>
                <a:gd name="adj" fmla="val 5521"/>
              </a:avLst>
            </a:prstGeom>
            <a:noFill/>
            <a:ln w="9525">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42" name="Google Shape;226;p28"/>
            <p:cNvSpPr/>
            <p:nvPr/>
          </p:nvSpPr>
          <p:spPr>
            <a:xfrm rot="5400000">
              <a:off x="4471200" y="497880"/>
              <a:ext cx="201600" cy="8906760"/>
            </a:xfrm>
            <a:prstGeom prst="roundRect">
              <a:avLst>
                <a:gd name="adj" fmla="val 50000"/>
              </a:avLst>
            </a:prstGeom>
            <a:noFill/>
            <a:ln w="9525">
              <a:solidFill>
                <a:srgbClr val="00FFA4"/>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43" name="Rectangle 42"/>
          <p:cNvSpPr/>
          <p:nvPr/>
        </p:nvSpPr>
        <p:spPr>
          <a:xfrm>
            <a:off x="723960" y="457200"/>
            <a:ext cx="7705440" cy="34272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70000" lnSpcReduction="19999"/>
          </a:bodyPr>
          <a:lstStyle/>
          <a:p>
            <a:pPr algn="ctr" defTabSz="914400">
              <a:lnSpc>
                <a:spcPct val="100000"/>
              </a:lnSpc>
              <a:tabLst>
                <a:tab pos="0" algn="l"/>
              </a:tabLst>
            </a:pPr>
            <a:r>
              <a:rPr lang="en-US" sz="2700" b="1" u="none" strike="noStrike">
                <a:solidFill>
                  <a:srgbClr val="FFFFFF"/>
                </a:solidFill>
                <a:effectLst/>
                <a:uFillTx/>
                <a:latin typeface="Manrope"/>
              </a:rPr>
              <a:t>Five Objectives</a:t>
            </a:r>
            <a:endParaRPr lang="en-US" sz="2700" b="0" u="none" strike="noStrike">
              <a:solidFill>
                <a:srgbClr val="FFFFFF"/>
              </a:solidFill>
              <a:effectLst/>
              <a:uFillTx/>
              <a:latin typeface="OpenSymbol"/>
            </a:endParaRPr>
          </a:p>
        </p:txBody>
      </p:sp>
      <p:sp>
        <p:nvSpPr>
          <p:cNvPr id="44" name="Rectangle 43"/>
          <p:cNvSpPr/>
          <p:nvPr/>
        </p:nvSpPr>
        <p:spPr>
          <a:xfrm>
            <a:off x="695160" y="1809720"/>
            <a:ext cx="7762680" cy="133308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85000" lnSpcReduction="9999"/>
          </a:bodyPr>
          <a:lstStyle/>
          <a:p>
            <a:pPr defTabSz="914400">
              <a:lnSpc>
                <a:spcPct val="150000"/>
              </a:lnSpc>
              <a:tabLst>
                <a:tab pos="0" algn="l"/>
              </a:tabLst>
            </a:pPr>
            <a:r>
              <a:rPr lang="en-US" sz="1400" b="0" u="none" strike="noStrike">
                <a:solidFill>
                  <a:srgbClr val="FFFFFF"/>
                </a:solidFill>
                <a:effectLst/>
                <a:uFillTx/>
                <a:latin typeface="Funnel Sans"/>
              </a:rPr>
              <a:t>- Continuous monitoring of all registered emails.</a:t>
            </a:r>
            <a:endParaRPr lang="en-US" sz="1400" b="0" u="none" strike="noStrike">
              <a:solidFill>
                <a:srgbClr val="FFFFFF"/>
              </a:solidFill>
              <a:effectLst/>
              <a:uFillTx/>
              <a:latin typeface="OpenSymbol"/>
            </a:endParaRPr>
          </a:p>
          <a:p>
            <a:pPr defTabSz="914400">
              <a:lnSpc>
                <a:spcPct val="150000"/>
              </a:lnSpc>
              <a:tabLst>
                <a:tab pos="0" algn="l"/>
              </a:tabLst>
            </a:pPr>
            <a:r>
              <a:rPr lang="en-US" sz="1400" b="0" u="none" strike="noStrike">
                <a:solidFill>
                  <a:srgbClr val="FFFFFF"/>
                </a:solidFill>
                <a:effectLst/>
                <a:uFillTx/>
                <a:latin typeface="Funnel Sans"/>
              </a:rPr>
              <a:t>- Real-time or near-real-time breach detection using HIBP.</a:t>
            </a:r>
            <a:endParaRPr lang="en-US" sz="1400" b="0" u="none" strike="noStrike">
              <a:solidFill>
                <a:srgbClr val="FFFFFF"/>
              </a:solidFill>
              <a:effectLst/>
              <a:uFillTx/>
              <a:latin typeface="OpenSymbol"/>
            </a:endParaRPr>
          </a:p>
          <a:p>
            <a:pPr defTabSz="914400">
              <a:lnSpc>
                <a:spcPct val="150000"/>
              </a:lnSpc>
              <a:tabLst>
                <a:tab pos="0" algn="l"/>
              </a:tabLst>
            </a:pPr>
            <a:r>
              <a:rPr lang="en-US" sz="1400" b="0" u="none" strike="noStrike">
                <a:solidFill>
                  <a:srgbClr val="FFFFFF"/>
                </a:solidFill>
                <a:effectLst/>
                <a:uFillTx/>
                <a:latin typeface="Funnel Sans"/>
              </a:rPr>
              <a:t>- Immediate notification via email to affected users.</a:t>
            </a:r>
            <a:endParaRPr lang="en-US" sz="1400" b="0" u="none" strike="noStrike">
              <a:solidFill>
                <a:srgbClr val="FFFFFF"/>
              </a:solidFill>
              <a:effectLst/>
              <a:uFillTx/>
              <a:latin typeface="OpenSymbol"/>
            </a:endParaRPr>
          </a:p>
          <a:p>
            <a:pPr defTabSz="914400">
              <a:lnSpc>
                <a:spcPct val="150000"/>
              </a:lnSpc>
              <a:tabLst>
                <a:tab pos="0" algn="l"/>
              </a:tabLst>
            </a:pPr>
            <a:r>
              <a:rPr lang="en-US" sz="1400" b="0" u="none" strike="noStrike">
                <a:solidFill>
                  <a:srgbClr val="FFFFFF"/>
                </a:solidFill>
                <a:effectLst/>
                <a:uFillTx/>
                <a:latin typeface="Funnel Sans"/>
              </a:rPr>
              <a:t>- Dashboards and insights to improve user security posture.</a:t>
            </a:r>
            <a:endParaRPr lang="en-US" sz="1400" b="0" u="none" strike="noStrike">
              <a:solidFill>
                <a:srgbClr val="FFFFFF"/>
              </a:solidFill>
              <a:effectLst/>
              <a:uFillTx/>
              <a:latin typeface="OpenSymbol"/>
            </a:endParaRPr>
          </a:p>
          <a:p>
            <a:pPr defTabSz="914400">
              <a:lnSpc>
                <a:spcPct val="150000"/>
              </a:lnSpc>
              <a:tabLst>
                <a:tab pos="0" algn="l"/>
              </a:tabLst>
            </a:pPr>
            <a:r>
              <a:rPr lang="en-US" sz="1400" b="0" u="none" strike="noStrike">
                <a:solidFill>
                  <a:srgbClr val="FFFFFF"/>
                </a:solidFill>
                <a:effectLst/>
                <a:uFillTx/>
                <a:latin typeface="Funnel Sans"/>
              </a:rPr>
              <a:t>- Secure design to protect stored credentials and PII.</a:t>
            </a:r>
            <a:endParaRPr lang="en-US" sz="1400" b="0" u="none" strike="noStrike">
              <a:solidFill>
                <a:srgbClr val="FFFFFF"/>
              </a:solidFill>
              <a:effectLst/>
              <a:uFillTx/>
              <a:latin typeface="OpenSymbo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Rectangle: Rounded Corners 44"/>
          <p:cNvSpPr/>
          <p:nvPr/>
        </p:nvSpPr>
        <p:spPr>
          <a:xfrm>
            <a:off x="819000" y="1943280"/>
            <a:ext cx="1752120" cy="2495160"/>
          </a:xfrm>
          <a:prstGeom prst="roundRect">
            <a:avLst>
              <a:gd name="adj" fmla="val 16667"/>
            </a:avLst>
          </a:prstGeom>
          <a:noFill/>
          <a:ln w="9525">
            <a:solidFill>
              <a:srgbClr val="FFFFFF"/>
            </a:solidFill>
            <a:round/>
          </a:ln>
        </p:spPr>
        <p:style>
          <a:lnRef idx="0">
            <a:scrgbClr r="0" g="0" b="0"/>
          </a:lnRef>
          <a:fillRef idx="0">
            <a:scrgbClr r="0" g="0" b="0"/>
          </a:fillRef>
          <a:effectRef idx="0">
            <a:scrgbClr r="0" g="0" b="0"/>
          </a:effectRef>
          <a:fontRef idx="minor"/>
        </p:style>
        <p:txBody>
          <a:bodyPr vertOverflow="clip" lIns="90000" tIns="45000" rIns="90000" bIns="45000" anchor="ctr">
            <a:noAutofit/>
          </a:bodyPr>
          <a:lstStyle/>
          <a:p>
            <a:pPr algn="ctr" defTabSz="914400">
              <a:lnSpc>
                <a:spcPct val="100000"/>
              </a:lnSpc>
            </a:pPr>
            <a:endParaRPr lang="en-US" sz="1800" b="0" u="none" strike="noStrike">
              <a:solidFill>
                <a:srgbClr val="FFFFFF"/>
              </a:solidFill>
              <a:effectLst/>
              <a:uFillTx/>
              <a:latin typeface="OpenSymbol"/>
            </a:endParaRPr>
          </a:p>
        </p:txBody>
      </p:sp>
      <p:sp>
        <p:nvSpPr>
          <p:cNvPr id="46" name="Rectangle: Rounded Corners 45"/>
          <p:cNvSpPr/>
          <p:nvPr/>
        </p:nvSpPr>
        <p:spPr>
          <a:xfrm>
            <a:off x="2695680" y="1943280"/>
            <a:ext cx="1752120" cy="2495160"/>
          </a:xfrm>
          <a:prstGeom prst="roundRect">
            <a:avLst>
              <a:gd name="adj" fmla="val 16667"/>
            </a:avLst>
          </a:prstGeom>
          <a:noFill/>
          <a:ln w="9525">
            <a:solidFill>
              <a:srgbClr val="FFFFFF"/>
            </a:solidFill>
            <a:round/>
          </a:ln>
        </p:spPr>
        <p:style>
          <a:lnRef idx="0">
            <a:scrgbClr r="0" g="0" b="0"/>
          </a:lnRef>
          <a:fillRef idx="0">
            <a:scrgbClr r="0" g="0" b="0"/>
          </a:fillRef>
          <a:effectRef idx="0">
            <a:scrgbClr r="0" g="0" b="0"/>
          </a:effectRef>
          <a:fontRef idx="minor"/>
        </p:style>
        <p:txBody>
          <a:bodyPr vertOverflow="clip" lIns="90000" tIns="45000" rIns="90000" bIns="45000" anchor="ctr">
            <a:noAutofit/>
          </a:bodyPr>
          <a:lstStyle/>
          <a:p>
            <a:pPr algn="ctr" defTabSz="914400">
              <a:lnSpc>
                <a:spcPct val="100000"/>
              </a:lnSpc>
            </a:pPr>
            <a:endParaRPr lang="en-US" sz="1800" b="0" u="none" strike="noStrike">
              <a:solidFill>
                <a:srgbClr val="FFFFFF"/>
              </a:solidFill>
              <a:effectLst/>
              <a:uFillTx/>
              <a:latin typeface="OpenSymbol"/>
            </a:endParaRPr>
          </a:p>
        </p:txBody>
      </p:sp>
      <p:sp>
        <p:nvSpPr>
          <p:cNvPr id="47" name="Rectangle: Rounded Corners 46"/>
          <p:cNvSpPr/>
          <p:nvPr/>
        </p:nvSpPr>
        <p:spPr>
          <a:xfrm>
            <a:off x="4572000" y="1943280"/>
            <a:ext cx="1752120" cy="2495160"/>
          </a:xfrm>
          <a:prstGeom prst="roundRect">
            <a:avLst>
              <a:gd name="adj" fmla="val 16667"/>
            </a:avLst>
          </a:prstGeom>
          <a:noFill/>
          <a:ln w="9525">
            <a:solidFill>
              <a:srgbClr val="FFFFFF"/>
            </a:solidFill>
            <a:round/>
          </a:ln>
        </p:spPr>
        <p:style>
          <a:lnRef idx="0">
            <a:scrgbClr r="0" g="0" b="0"/>
          </a:lnRef>
          <a:fillRef idx="0">
            <a:scrgbClr r="0" g="0" b="0"/>
          </a:fillRef>
          <a:effectRef idx="0">
            <a:scrgbClr r="0" g="0" b="0"/>
          </a:effectRef>
          <a:fontRef idx="minor"/>
        </p:style>
        <p:txBody>
          <a:bodyPr vertOverflow="clip" lIns="90000" tIns="45000" rIns="90000" bIns="45000" anchor="ctr">
            <a:noAutofit/>
          </a:bodyPr>
          <a:lstStyle/>
          <a:p>
            <a:pPr algn="ctr" defTabSz="914400">
              <a:lnSpc>
                <a:spcPct val="100000"/>
              </a:lnSpc>
            </a:pPr>
            <a:endParaRPr lang="en-US" sz="1800" b="0" u="none" strike="noStrike">
              <a:solidFill>
                <a:srgbClr val="FFFFFF"/>
              </a:solidFill>
              <a:effectLst/>
              <a:uFillTx/>
              <a:latin typeface="OpenSymbol"/>
            </a:endParaRPr>
          </a:p>
        </p:txBody>
      </p:sp>
      <p:sp>
        <p:nvSpPr>
          <p:cNvPr id="48" name="Rectangle: Rounded Corners 47"/>
          <p:cNvSpPr/>
          <p:nvPr/>
        </p:nvSpPr>
        <p:spPr>
          <a:xfrm>
            <a:off x="6448320" y="1943280"/>
            <a:ext cx="1752120" cy="2495160"/>
          </a:xfrm>
          <a:prstGeom prst="roundRect">
            <a:avLst>
              <a:gd name="adj" fmla="val 16667"/>
            </a:avLst>
          </a:prstGeom>
          <a:noFill/>
          <a:ln w="9525">
            <a:solidFill>
              <a:srgbClr val="FFFFFF"/>
            </a:solidFill>
            <a:round/>
          </a:ln>
        </p:spPr>
        <p:style>
          <a:lnRef idx="0">
            <a:scrgbClr r="0" g="0" b="0"/>
          </a:lnRef>
          <a:fillRef idx="0">
            <a:scrgbClr r="0" g="0" b="0"/>
          </a:fillRef>
          <a:effectRef idx="0">
            <a:scrgbClr r="0" g="0" b="0"/>
          </a:effectRef>
          <a:fontRef idx="minor"/>
        </p:style>
        <p:txBody>
          <a:bodyPr vertOverflow="clip" lIns="90000" tIns="45000" rIns="90000" bIns="45000" anchor="ctr">
            <a:noAutofit/>
          </a:bodyPr>
          <a:lstStyle/>
          <a:p>
            <a:pPr algn="ctr" defTabSz="914400">
              <a:lnSpc>
                <a:spcPct val="100000"/>
              </a:lnSpc>
            </a:pPr>
            <a:endParaRPr lang="en-US" sz="1800" b="0" u="none" strike="noStrike">
              <a:solidFill>
                <a:srgbClr val="FFFFFF"/>
              </a:solidFill>
              <a:effectLst/>
              <a:uFillTx/>
              <a:latin typeface="OpenSymbol"/>
            </a:endParaRPr>
          </a:p>
        </p:txBody>
      </p:sp>
      <p:sp>
        <p:nvSpPr>
          <p:cNvPr id="49" name="Rectangle 48"/>
          <p:cNvSpPr/>
          <p:nvPr/>
        </p:nvSpPr>
        <p:spPr>
          <a:xfrm>
            <a:off x="819000" y="628560"/>
            <a:ext cx="7505280" cy="39960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85000" lnSpcReduction="9999"/>
          </a:bodyPr>
          <a:lstStyle/>
          <a:p>
            <a:pPr defTabSz="914400">
              <a:lnSpc>
                <a:spcPct val="100000"/>
              </a:lnSpc>
              <a:tabLst>
                <a:tab pos="0" algn="l"/>
              </a:tabLst>
            </a:pPr>
            <a:r>
              <a:rPr lang="en-US" sz="2600" b="1" u="none" strike="noStrike">
                <a:solidFill>
                  <a:srgbClr val="FFFFFF"/>
                </a:solidFill>
                <a:effectLst/>
                <a:uFillTx/>
                <a:latin typeface="Manrope"/>
              </a:rPr>
              <a:t>User Journey</a:t>
            </a:r>
            <a:endParaRPr lang="en-US" sz="2600" b="0" u="none" strike="noStrike">
              <a:solidFill>
                <a:srgbClr val="FFFFFF"/>
              </a:solidFill>
              <a:effectLst/>
              <a:uFillTx/>
              <a:latin typeface="OpenSymbol"/>
            </a:endParaRPr>
          </a:p>
        </p:txBody>
      </p:sp>
      <p:sp>
        <p:nvSpPr>
          <p:cNvPr id="50" name="Rectangle 49"/>
          <p:cNvSpPr/>
          <p:nvPr/>
        </p:nvSpPr>
        <p:spPr>
          <a:xfrm>
            <a:off x="819000" y="1390680"/>
            <a:ext cx="1752120" cy="51408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2400" b="0" u="none" strike="noStrike">
                <a:solidFill>
                  <a:srgbClr val="FFFFFF"/>
                </a:solidFill>
                <a:effectLst/>
                <a:uFillTx/>
                <a:latin typeface="Manrope"/>
              </a:rPr>
              <a:t>01</a:t>
            </a:r>
            <a:endParaRPr lang="en-US" sz="2400" b="0" u="none" strike="noStrike">
              <a:solidFill>
                <a:srgbClr val="FFFFFF"/>
              </a:solidFill>
              <a:effectLst/>
              <a:uFillTx/>
              <a:latin typeface="OpenSymbol"/>
            </a:endParaRPr>
          </a:p>
        </p:txBody>
      </p:sp>
      <p:sp>
        <p:nvSpPr>
          <p:cNvPr id="51" name="Rectangle 50"/>
          <p:cNvSpPr/>
          <p:nvPr/>
        </p:nvSpPr>
        <p:spPr>
          <a:xfrm>
            <a:off x="990720" y="2181240"/>
            <a:ext cx="1409400" cy="42840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1800" b="0" u="none" strike="noStrike">
                <a:solidFill>
                  <a:srgbClr val="FFFFFF"/>
                </a:solidFill>
                <a:effectLst/>
                <a:uFillTx/>
                <a:latin typeface="Manrope"/>
              </a:rPr>
              <a:t>Register</a:t>
            </a:r>
            <a:endParaRPr lang="en-US" sz="1800" b="0" u="none" strike="noStrike">
              <a:solidFill>
                <a:srgbClr val="FFFFFF"/>
              </a:solidFill>
              <a:effectLst/>
              <a:uFillTx/>
              <a:latin typeface="OpenSymbol"/>
            </a:endParaRPr>
          </a:p>
        </p:txBody>
      </p:sp>
      <p:sp>
        <p:nvSpPr>
          <p:cNvPr id="52" name="Rectangle 51"/>
          <p:cNvSpPr/>
          <p:nvPr/>
        </p:nvSpPr>
        <p:spPr>
          <a:xfrm>
            <a:off x="990720" y="2657520"/>
            <a:ext cx="1409400" cy="73296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1200" b="0" u="none" strike="noStrike">
                <a:solidFill>
                  <a:srgbClr val="FFFFFF"/>
                </a:solidFill>
                <a:effectLst/>
                <a:uFillTx/>
                <a:latin typeface="Funnel Sans"/>
              </a:rPr>
              <a:t>User creates an account to begin the protection workflow.</a:t>
            </a:r>
            <a:endParaRPr lang="en-US" sz="1200" b="0" u="none" strike="noStrike">
              <a:solidFill>
                <a:srgbClr val="FFFFFF"/>
              </a:solidFill>
              <a:effectLst/>
              <a:uFillTx/>
              <a:latin typeface="OpenSymbol"/>
            </a:endParaRPr>
          </a:p>
        </p:txBody>
      </p:sp>
      <p:sp>
        <p:nvSpPr>
          <p:cNvPr id="53" name="Rectangle 52"/>
          <p:cNvSpPr/>
          <p:nvPr/>
        </p:nvSpPr>
        <p:spPr>
          <a:xfrm>
            <a:off x="2695680" y="1390680"/>
            <a:ext cx="1752120" cy="51408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2400" b="0" u="none" strike="noStrike">
                <a:solidFill>
                  <a:srgbClr val="FFFFFF"/>
                </a:solidFill>
                <a:effectLst/>
                <a:uFillTx/>
                <a:latin typeface="Manrope"/>
              </a:rPr>
              <a:t>02</a:t>
            </a:r>
            <a:endParaRPr lang="en-US" sz="2400" b="0" u="none" strike="noStrike">
              <a:solidFill>
                <a:srgbClr val="FFFFFF"/>
              </a:solidFill>
              <a:effectLst/>
              <a:uFillTx/>
              <a:latin typeface="OpenSymbol"/>
            </a:endParaRPr>
          </a:p>
        </p:txBody>
      </p:sp>
      <p:sp>
        <p:nvSpPr>
          <p:cNvPr id="54" name="Rectangle 53"/>
          <p:cNvSpPr/>
          <p:nvPr/>
        </p:nvSpPr>
        <p:spPr>
          <a:xfrm>
            <a:off x="2867040" y="2181240"/>
            <a:ext cx="1409400" cy="7045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1800" b="0" u="none" strike="noStrike">
                <a:solidFill>
                  <a:srgbClr val="FFFFFF"/>
                </a:solidFill>
                <a:effectLst/>
                <a:uFillTx/>
                <a:latin typeface="Manrope"/>
              </a:rPr>
              <a:t>Email Verify</a:t>
            </a:r>
            <a:endParaRPr lang="en-US" sz="1800" b="0" u="none" strike="noStrike">
              <a:solidFill>
                <a:srgbClr val="FFFFFF"/>
              </a:solidFill>
              <a:effectLst/>
              <a:uFillTx/>
              <a:latin typeface="OpenSymbol"/>
            </a:endParaRPr>
          </a:p>
        </p:txBody>
      </p:sp>
      <p:sp>
        <p:nvSpPr>
          <p:cNvPr id="55" name="Rectangle 54"/>
          <p:cNvSpPr/>
          <p:nvPr/>
        </p:nvSpPr>
        <p:spPr>
          <a:xfrm>
            <a:off x="2867040" y="2657520"/>
            <a:ext cx="1409400" cy="55224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92500" lnSpcReduction="9999"/>
          </a:bodyPr>
          <a:lstStyle/>
          <a:p>
            <a:pPr defTabSz="914400">
              <a:lnSpc>
                <a:spcPct val="100000"/>
              </a:lnSpc>
              <a:tabLst>
                <a:tab pos="0" algn="l"/>
              </a:tabLst>
            </a:pPr>
            <a:r>
              <a:rPr lang="en-US" sz="1200" b="0" u="none" strike="noStrike">
                <a:solidFill>
                  <a:srgbClr val="FFFFFF"/>
                </a:solidFill>
                <a:effectLst/>
                <a:uFillTx/>
                <a:latin typeface="Funnel Sans"/>
              </a:rPr>
              <a:t>A verification email confirms ownership before proceeding.</a:t>
            </a:r>
            <a:endParaRPr lang="en-US" sz="1200" b="0" u="none" strike="noStrike">
              <a:solidFill>
                <a:srgbClr val="FFFFFF"/>
              </a:solidFill>
              <a:effectLst/>
              <a:uFillTx/>
              <a:latin typeface="OpenSymbol"/>
            </a:endParaRPr>
          </a:p>
        </p:txBody>
      </p:sp>
      <p:sp>
        <p:nvSpPr>
          <p:cNvPr id="56" name="Rectangle 55"/>
          <p:cNvSpPr/>
          <p:nvPr/>
        </p:nvSpPr>
        <p:spPr>
          <a:xfrm>
            <a:off x="4572000" y="1390680"/>
            <a:ext cx="1752120" cy="51408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2400" b="0" u="none" strike="noStrike">
                <a:solidFill>
                  <a:srgbClr val="FFFFFF"/>
                </a:solidFill>
                <a:effectLst/>
                <a:uFillTx/>
                <a:latin typeface="Manrope"/>
              </a:rPr>
              <a:t>03</a:t>
            </a:r>
            <a:endParaRPr lang="en-US" sz="2400" b="0" u="none" strike="noStrike">
              <a:solidFill>
                <a:srgbClr val="FFFFFF"/>
              </a:solidFill>
              <a:effectLst/>
              <a:uFillTx/>
              <a:latin typeface="OpenSymbol"/>
            </a:endParaRPr>
          </a:p>
        </p:txBody>
      </p:sp>
      <p:sp>
        <p:nvSpPr>
          <p:cNvPr id="57" name="Rectangle 56"/>
          <p:cNvSpPr/>
          <p:nvPr/>
        </p:nvSpPr>
        <p:spPr>
          <a:xfrm>
            <a:off x="4743360" y="2181240"/>
            <a:ext cx="1409400" cy="7045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1800" b="0" u="none" strike="noStrike">
                <a:solidFill>
                  <a:srgbClr val="FFFFFF"/>
                </a:solidFill>
                <a:effectLst/>
                <a:uFillTx/>
                <a:latin typeface="Manrope"/>
              </a:rPr>
              <a:t>Add Monitored</a:t>
            </a:r>
            <a:endParaRPr lang="en-US" sz="1800" b="0" u="none" strike="noStrike">
              <a:solidFill>
                <a:srgbClr val="FFFFFF"/>
              </a:solidFill>
              <a:effectLst/>
              <a:uFillTx/>
              <a:latin typeface="OpenSymbol"/>
            </a:endParaRPr>
          </a:p>
        </p:txBody>
      </p:sp>
      <p:sp>
        <p:nvSpPr>
          <p:cNvPr id="58" name="Rectangle 57"/>
          <p:cNvSpPr/>
          <p:nvPr/>
        </p:nvSpPr>
        <p:spPr>
          <a:xfrm>
            <a:off x="4743360" y="2657520"/>
            <a:ext cx="1409400" cy="73296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1200" b="0" u="none" strike="noStrike">
                <a:solidFill>
                  <a:srgbClr val="FFFFFF"/>
                </a:solidFill>
                <a:effectLst/>
                <a:uFillTx/>
                <a:latin typeface="Funnel Sans"/>
              </a:rPr>
              <a:t>User selects the email address to monitor for breaches.</a:t>
            </a:r>
            <a:endParaRPr lang="en-US" sz="1200" b="0" u="none" strike="noStrike">
              <a:solidFill>
                <a:srgbClr val="FFFFFF"/>
              </a:solidFill>
              <a:effectLst/>
              <a:uFillTx/>
              <a:latin typeface="OpenSymbol"/>
            </a:endParaRPr>
          </a:p>
        </p:txBody>
      </p:sp>
      <p:sp>
        <p:nvSpPr>
          <p:cNvPr id="59" name="Rectangle 58"/>
          <p:cNvSpPr/>
          <p:nvPr/>
        </p:nvSpPr>
        <p:spPr>
          <a:xfrm>
            <a:off x="6448320" y="1390680"/>
            <a:ext cx="1752120" cy="51408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2400" b="0" u="none" strike="noStrike">
                <a:solidFill>
                  <a:srgbClr val="FFFFFF"/>
                </a:solidFill>
                <a:effectLst/>
                <a:uFillTx/>
                <a:latin typeface="Manrope"/>
              </a:rPr>
              <a:t>04</a:t>
            </a:r>
            <a:endParaRPr lang="en-US" sz="2400" b="0" u="none" strike="noStrike">
              <a:solidFill>
                <a:srgbClr val="FFFFFF"/>
              </a:solidFill>
              <a:effectLst/>
              <a:uFillTx/>
              <a:latin typeface="OpenSymbol"/>
            </a:endParaRPr>
          </a:p>
        </p:txBody>
      </p:sp>
      <p:sp>
        <p:nvSpPr>
          <p:cNvPr id="60" name="Rectangle 59"/>
          <p:cNvSpPr/>
          <p:nvPr/>
        </p:nvSpPr>
        <p:spPr>
          <a:xfrm>
            <a:off x="6620040" y="2181240"/>
            <a:ext cx="1409400" cy="7045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1800" b="0" u="none" strike="noStrike">
                <a:solidFill>
                  <a:srgbClr val="FFFFFF"/>
                </a:solidFill>
                <a:effectLst/>
                <a:uFillTx/>
                <a:latin typeface="Manrope"/>
              </a:rPr>
              <a:t>Trigger Scan</a:t>
            </a:r>
            <a:endParaRPr lang="en-US" sz="1800" b="0" u="none" strike="noStrike">
              <a:solidFill>
                <a:srgbClr val="FFFFFF"/>
              </a:solidFill>
              <a:effectLst/>
              <a:uFillTx/>
              <a:latin typeface="OpenSymbol"/>
            </a:endParaRPr>
          </a:p>
        </p:txBody>
      </p:sp>
      <p:sp>
        <p:nvSpPr>
          <p:cNvPr id="61" name="Rectangle 60"/>
          <p:cNvSpPr/>
          <p:nvPr/>
        </p:nvSpPr>
        <p:spPr>
          <a:xfrm>
            <a:off x="6620040" y="2657520"/>
            <a:ext cx="1409400" cy="73296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92500" lnSpcReduction="9999"/>
          </a:bodyPr>
          <a:lstStyle/>
          <a:p>
            <a:pPr defTabSz="914400">
              <a:lnSpc>
                <a:spcPct val="100000"/>
              </a:lnSpc>
              <a:tabLst>
                <a:tab pos="0" algn="l"/>
              </a:tabLst>
            </a:pPr>
            <a:r>
              <a:rPr lang="en-US" sz="1200" b="0" u="none" strike="noStrike">
                <a:solidFill>
                  <a:srgbClr val="FFFFFF"/>
                </a:solidFill>
                <a:effectLst/>
                <a:uFillTx/>
                <a:latin typeface="Funnel Sans"/>
              </a:rPr>
              <a:t>A manual or scheduled HIBP scan starts the verification pipeline.</a:t>
            </a:r>
            <a:endParaRPr lang="en-US" sz="1200" b="0" u="none" strike="noStrike">
              <a:solidFill>
                <a:srgbClr val="FFFFFF"/>
              </a:solidFill>
              <a:effectLst/>
              <a:uFillTx/>
              <a:latin typeface="OpenSymbo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Rectangle: Rounded Corners 61"/>
          <p:cNvSpPr/>
          <p:nvPr/>
        </p:nvSpPr>
        <p:spPr>
          <a:xfrm>
            <a:off x="3686040" y="847800"/>
            <a:ext cx="9000" cy="3447720"/>
          </a:xfrm>
          <a:prstGeom prst="roundRect">
            <a:avLst>
              <a:gd name="adj" fmla="val 16667"/>
            </a:avLst>
          </a:prstGeom>
          <a:solidFill>
            <a:srgbClr val="D9D9D9"/>
          </a:solidFill>
          <a:ln w="0">
            <a:noFill/>
          </a:ln>
        </p:spPr>
        <p:style>
          <a:lnRef idx="0">
            <a:scrgbClr r="0" g="0" b="0"/>
          </a:lnRef>
          <a:fillRef idx="0">
            <a:scrgbClr r="0" g="0" b="0"/>
          </a:fillRef>
          <a:effectRef idx="0">
            <a:scrgbClr r="0" g="0" b="0"/>
          </a:effectRef>
          <a:fontRef idx="minor"/>
        </p:style>
        <p:txBody>
          <a:bodyPr vertOverflow="clip" lIns="90000" tIns="45000" rIns="90000" bIns="45000" anchor="ctr">
            <a:noAutofit/>
          </a:bodyPr>
          <a:lstStyle/>
          <a:p>
            <a:pPr algn="ctr" defTabSz="914400">
              <a:lnSpc>
                <a:spcPct val="100000"/>
              </a:lnSpc>
            </a:pPr>
            <a:endParaRPr lang="en-US" sz="1800" b="0" u="none" strike="noStrike">
              <a:solidFill>
                <a:srgbClr val="000000"/>
              </a:solidFill>
              <a:effectLst/>
              <a:uFillTx/>
              <a:latin typeface="OpenSymbol"/>
            </a:endParaRPr>
          </a:p>
        </p:txBody>
      </p:sp>
      <p:sp>
        <p:nvSpPr>
          <p:cNvPr id="63" name="Rectangle: Rounded Corners 62"/>
          <p:cNvSpPr/>
          <p:nvPr/>
        </p:nvSpPr>
        <p:spPr>
          <a:xfrm>
            <a:off x="3267000" y="571680"/>
            <a:ext cx="866520" cy="275760"/>
          </a:xfrm>
          <a:prstGeom prst="roundRect">
            <a:avLst>
              <a:gd name="adj" fmla="val 16667"/>
            </a:avLst>
          </a:prstGeom>
          <a:noFill/>
          <a:ln w="9525">
            <a:solidFill>
              <a:srgbClr val="FFFFFF"/>
            </a:solidFill>
            <a:round/>
          </a:ln>
        </p:spPr>
        <p:style>
          <a:lnRef idx="0">
            <a:scrgbClr r="0" g="0" b="0"/>
          </a:lnRef>
          <a:fillRef idx="0">
            <a:scrgbClr r="0" g="0" b="0"/>
          </a:fillRef>
          <a:effectRef idx="0">
            <a:scrgbClr r="0" g="0" b="0"/>
          </a:effectRef>
          <a:fontRef idx="minor"/>
        </p:style>
        <p:txBody>
          <a:bodyPr vertOverflow="clip" lIns="90000" tIns="45000" rIns="90000" bIns="45000" anchor="ctr">
            <a:noAutofit/>
          </a:bodyPr>
          <a:lstStyle/>
          <a:p>
            <a:pPr algn="ctr" defTabSz="914400">
              <a:lnSpc>
                <a:spcPct val="100000"/>
              </a:lnSpc>
            </a:pPr>
            <a:endParaRPr lang="en-US" sz="1800" b="0" u="none" strike="noStrike">
              <a:solidFill>
                <a:srgbClr val="FFFFFF"/>
              </a:solidFill>
              <a:effectLst/>
              <a:uFillTx/>
              <a:latin typeface="OpenSymbol"/>
            </a:endParaRPr>
          </a:p>
        </p:txBody>
      </p:sp>
      <p:sp>
        <p:nvSpPr>
          <p:cNvPr id="64" name="Rectangle: Rounded Corners 63"/>
          <p:cNvSpPr/>
          <p:nvPr/>
        </p:nvSpPr>
        <p:spPr>
          <a:xfrm>
            <a:off x="3267000" y="4295880"/>
            <a:ext cx="866520" cy="275760"/>
          </a:xfrm>
          <a:prstGeom prst="roundRect">
            <a:avLst>
              <a:gd name="adj" fmla="val 16667"/>
            </a:avLst>
          </a:prstGeom>
          <a:noFill/>
          <a:ln w="9525">
            <a:solidFill>
              <a:srgbClr val="FFFFFF"/>
            </a:solidFill>
            <a:round/>
          </a:ln>
        </p:spPr>
        <p:style>
          <a:lnRef idx="0">
            <a:scrgbClr r="0" g="0" b="0"/>
          </a:lnRef>
          <a:fillRef idx="0">
            <a:scrgbClr r="0" g="0" b="0"/>
          </a:fillRef>
          <a:effectRef idx="0">
            <a:scrgbClr r="0" g="0" b="0"/>
          </a:effectRef>
          <a:fontRef idx="minor"/>
        </p:style>
        <p:txBody>
          <a:bodyPr vertOverflow="clip" lIns="90000" tIns="45000" rIns="90000" bIns="45000" anchor="ctr">
            <a:noAutofit/>
          </a:bodyPr>
          <a:lstStyle/>
          <a:p>
            <a:pPr algn="ctr" defTabSz="914400">
              <a:lnSpc>
                <a:spcPct val="100000"/>
              </a:lnSpc>
            </a:pPr>
            <a:endParaRPr lang="en-US" sz="1800" b="0" u="none" strike="noStrike">
              <a:solidFill>
                <a:srgbClr val="FFFFFF"/>
              </a:solidFill>
              <a:effectLst/>
              <a:uFillTx/>
              <a:latin typeface="OpenSymbol"/>
            </a:endParaRPr>
          </a:p>
        </p:txBody>
      </p:sp>
      <p:sp>
        <p:nvSpPr>
          <p:cNvPr id="65" name="Rectangle 64"/>
          <p:cNvSpPr/>
          <p:nvPr/>
        </p:nvSpPr>
        <p:spPr>
          <a:xfrm>
            <a:off x="3686040" y="1171440"/>
            <a:ext cx="523440" cy="9000"/>
          </a:xfrm>
          <a:prstGeom prst="rect">
            <a:avLst/>
          </a:prstGeom>
          <a:solidFill>
            <a:srgbClr val="D9D9D9"/>
          </a:solidFill>
          <a:ln w="0">
            <a:noFill/>
          </a:ln>
        </p:spPr>
        <p:style>
          <a:lnRef idx="0">
            <a:scrgbClr r="0" g="0" b="0"/>
          </a:lnRef>
          <a:fillRef idx="0">
            <a:scrgbClr r="0" g="0" b="0"/>
          </a:fillRef>
          <a:effectRef idx="0">
            <a:scrgbClr r="0" g="0" b="0"/>
          </a:effectRef>
          <a:fontRef idx="minor"/>
        </p:style>
        <p:txBody>
          <a:bodyPr vertOverflow="clip" lIns="90000" tIns="-35640" rIns="90000" bIns="-35640" anchor="ctr">
            <a:noAutofit/>
          </a:bodyPr>
          <a:lstStyle/>
          <a:p>
            <a:pPr algn="ctr" defTabSz="914400">
              <a:lnSpc>
                <a:spcPct val="100000"/>
              </a:lnSpc>
            </a:pPr>
            <a:endParaRPr lang="en-US" sz="1800" b="0" u="none" strike="noStrike">
              <a:solidFill>
                <a:srgbClr val="000000"/>
              </a:solidFill>
              <a:effectLst/>
              <a:uFillTx/>
              <a:latin typeface="OpenSymbol"/>
            </a:endParaRPr>
          </a:p>
        </p:txBody>
      </p:sp>
      <p:sp>
        <p:nvSpPr>
          <p:cNvPr id="66" name="Isosceles Triangle 65"/>
          <p:cNvSpPr/>
          <p:nvPr/>
        </p:nvSpPr>
        <p:spPr>
          <a:xfrm rot="5400000">
            <a:off x="4210560" y="1143000"/>
            <a:ext cx="66240" cy="66240"/>
          </a:xfrm>
          <a:prstGeom prst="triangle">
            <a:avLst>
              <a:gd name="adj" fmla="val 50000"/>
            </a:avLst>
          </a:prstGeom>
          <a:solidFill>
            <a:srgbClr val="D9D9D9"/>
          </a:solidFill>
          <a:ln w="0">
            <a:noFill/>
          </a:ln>
        </p:spPr>
        <p:style>
          <a:lnRef idx="0">
            <a:scrgbClr r="0" g="0" b="0"/>
          </a:lnRef>
          <a:fillRef idx="0">
            <a:scrgbClr r="0" g="0" b="0"/>
          </a:fillRef>
          <a:effectRef idx="0">
            <a:scrgbClr r="0" g="0" b="0"/>
          </a:effectRef>
          <a:fontRef idx="minor"/>
        </p:style>
        <p:txBody>
          <a:bodyPr vertOverflow="clip" lIns="90000" tIns="-11520" rIns="90000" bIns="-11520" anchor="ctr">
            <a:noAutofit/>
          </a:bodyPr>
          <a:lstStyle/>
          <a:p>
            <a:pPr algn="ctr" defTabSz="914400">
              <a:lnSpc>
                <a:spcPct val="100000"/>
              </a:lnSpc>
            </a:pPr>
            <a:endParaRPr lang="en-US" sz="1800" b="0" u="none" strike="noStrike">
              <a:solidFill>
                <a:srgbClr val="000000"/>
              </a:solidFill>
              <a:effectLst/>
              <a:uFillTx/>
              <a:latin typeface="OpenSymbol"/>
            </a:endParaRPr>
          </a:p>
        </p:txBody>
      </p:sp>
      <p:sp>
        <p:nvSpPr>
          <p:cNvPr id="67" name="Rectangle 66"/>
          <p:cNvSpPr/>
          <p:nvPr/>
        </p:nvSpPr>
        <p:spPr>
          <a:xfrm>
            <a:off x="3686040" y="2104920"/>
            <a:ext cx="523440" cy="9000"/>
          </a:xfrm>
          <a:prstGeom prst="rect">
            <a:avLst/>
          </a:prstGeom>
          <a:solidFill>
            <a:srgbClr val="D9D9D9"/>
          </a:solidFill>
          <a:ln w="0">
            <a:noFill/>
          </a:ln>
        </p:spPr>
        <p:style>
          <a:lnRef idx="0">
            <a:scrgbClr r="0" g="0" b="0"/>
          </a:lnRef>
          <a:fillRef idx="0">
            <a:scrgbClr r="0" g="0" b="0"/>
          </a:fillRef>
          <a:effectRef idx="0">
            <a:scrgbClr r="0" g="0" b="0"/>
          </a:effectRef>
          <a:fontRef idx="minor"/>
        </p:style>
        <p:txBody>
          <a:bodyPr vertOverflow="clip" lIns="90000" tIns="-35640" rIns="90000" bIns="-35640" anchor="ctr">
            <a:noAutofit/>
          </a:bodyPr>
          <a:lstStyle/>
          <a:p>
            <a:pPr algn="ctr" defTabSz="914400">
              <a:lnSpc>
                <a:spcPct val="100000"/>
              </a:lnSpc>
            </a:pPr>
            <a:endParaRPr lang="en-US" sz="1800" b="0" u="none" strike="noStrike">
              <a:solidFill>
                <a:srgbClr val="000000"/>
              </a:solidFill>
              <a:effectLst/>
              <a:uFillTx/>
              <a:latin typeface="OpenSymbol"/>
            </a:endParaRPr>
          </a:p>
        </p:txBody>
      </p:sp>
      <p:sp>
        <p:nvSpPr>
          <p:cNvPr id="68" name="Isosceles Triangle 67"/>
          <p:cNvSpPr/>
          <p:nvPr/>
        </p:nvSpPr>
        <p:spPr>
          <a:xfrm rot="5400000">
            <a:off x="4210560" y="2076480"/>
            <a:ext cx="66240" cy="66240"/>
          </a:xfrm>
          <a:prstGeom prst="triangle">
            <a:avLst>
              <a:gd name="adj" fmla="val 50000"/>
            </a:avLst>
          </a:prstGeom>
          <a:solidFill>
            <a:srgbClr val="D9D9D9"/>
          </a:solidFill>
          <a:ln w="0">
            <a:noFill/>
          </a:ln>
        </p:spPr>
        <p:style>
          <a:lnRef idx="0">
            <a:scrgbClr r="0" g="0" b="0"/>
          </a:lnRef>
          <a:fillRef idx="0">
            <a:scrgbClr r="0" g="0" b="0"/>
          </a:fillRef>
          <a:effectRef idx="0">
            <a:scrgbClr r="0" g="0" b="0"/>
          </a:effectRef>
          <a:fontRef idx="minor"/>
        </p:style>
        <p:txBody>
          <a:bodyPr vertOverflow="clip" lIns="90000" tIns="-11520" rIns="90000" bIns="-11520" anchor="ctr">
            <a:noAutofit/>
          </a:bodyPr>
          <a:lstStyle/>
          <a:p>
            <a:pPr algn="ctr" defTabSz="914400">
              <a:lnSpc>
                <a:spcPct val="100000"/>
              </a:lnSpc>
            </a:pPr>
            <a:endParaRPr lang="en-US" sz="1800" b="0" u="none" strike="noStrike">
              <a:solidFill>
                <a:srgbClr val="000000"/>
              </a:solidFill>
              <a:effectLst/>
              <a:uFillTx/>
              <a:latin typeface="OpenSymbol"/>
            </a:endParaRPr>
          </a:p>
        </p:txBody>
      </p:sp>
      <p:sp>
        <p:nvSpPr>
          <p:cNvPr id="69" name="Rectangle 68"/>
          <p:cNvSpPr/>
          <p:nvPr/>
        </p:nvSpPr>
        <p:spPr>
          <a:xfrm>
            <a:off x="3686040" y="3029040"/>
            <a:ext cx="523440" cy="9000"/>
          </a:xfrm>
          <a:prstGeom prst="rect">
            <a:avLst/>
          </a:prstGeom>
          <a:solidFill>
            <a:srgbClr val="D9D9D9"/>
          </a:solidFill>
          <a:ln w="0">
            <a:noFill/>
          </a:ln>
        </p:spPr>
        <p:style>
          <a:lnRef idx="0">
            <a:scrgbClr r="0" g="0" b="0"/>
          </a:lnRef>
          <a:fillRef idx="0">
            <a:scrgbClr r="0" g="0" b="0"/>
          </a:fillRef>
          <a:effectRef idx="0">
            <a:scrgbClr r="0" g="0" b="0"/>
          </a:effectRef>
          <a:fontRef idx="minor"/>
        </p:style>
        <p:txBody>
          <a:bodyPr vertOverflow="clip" lIns="90000" tIns="-35640" rIns="90000" bIns="-35640" anchor="ctr">
            <a:noAutofit/>
          </a:bodyPr>
          <a:lstStyle/>
          <a:p>
            <a:pPr algn="ctr" defTabSz="914400">
              <a:lnSpc>
                <a:spcPct val="100000"/>
              </a:lnSpc>
            </a:pPr>
            <a:endParaRPr lang="en-US" sz="1800" b="0" u="none" strike="noStrike">
              <a:solidFill>
                <a:srgbClr val="000000"/>
              </a:solidFill>
              <a:effectLst/>
              <a:uFillTx/>
              <a:latin typeface="OpenSymbol"/>
            </a:endParaRPr>
          </a:p>
        </p:txBody>
      </p:sp>
      <p:sp>
        <p:nvSpPr>
          <p:cNvPr id="70" name="Isosceles Triangle 69"/>
          <p:cNvSpPr/>
          <p:nvPr/>
        </p:nvSpPr>
        <p:spPr>
          <a:xfrm rot="5400000">
            <a:off x="4210560" y="3000240"/>
            <a:ext cx="66240" cy="66240"/>
          </a:xfrm>
          <a:prstGeom prst="triangle">
            <a:avLst>
              <a:gd name="adj" fmla="val 50000"/>
            </a:avLst>
          </a:prstGeom>
          <a:solidFill>
            <a:srgbClr val="D9D9D9"/>
          </a:solidFill>
          <a:ln w="0">
            <a:noFill/>
          </a:ln>
        </p:spPr>
        <p:style>
          <a:lnRef idx="0">
            <a:scrgbClr r="0" g="0" b="0"/>
          </a:lnRef>
          <a:fillRef idx="0">
            <a:scrgbClr r="0" g="0" b="0"/>
          </a:fillRef>
          <a:effectRef idx="0">
            <a:scrgbClr r="0" g="0" b="0"/>
          </a:effectRef>
          <a:fontRef idx="minor"/>
        </p:style>
        <p:txBody>
          <a:bodyPr vertOverflow="clip" lIns="90000" tIns="-11520" rIns="90000" bIns="-11520" anchor="ctr">
            <a:noAutofit/>
          </a:bodyPr>
          <a:lstStyle/>
          <a:p>
            <a:pPr algn="ctr" defTabSz="914400">
              <a:lnSpc>
                <a:spcPct val="100000"/>
              </a:lnSpc>
            </a:pPr>
            <a:endParaRPr lang="en-US" sz="1800" b="0" u="none" strike="noStrike">
              <a:solidFill>
                <a:srgbClr val="000000"/>
              </a:solidFill>
              <a:effectLst/>
              <a:uFillTx/>
              <a:latin typeface="OpenSymbol"/>
            </a:endParaRPr>
          </a:p>
        </p:txBody>
      </p:sp>
      <p:sp>
        <p:nvSpPr>
          <p:cNvPr id="71" name="Rectangle 70"/>
          <p:cNvSpPr/>
          <p:nvPr/>
        </p:nvSpPr>
        <p:spPr>
          <a:xfrm>
            <a:off x="3686040" y="3962520"/>
            <a:ext cx="523440" cy="9000"/>
          </a:xfrm>
          <a:prstGeom prst="rect">
            <a:avLst/>
          </a:prstGeom>
          <a:solidFill>
            <a:srgbClr val="D9D9D9"/>
          </a:solidFill>
          <a:ln w="0">
            <a:noFill/>
          </a:ln>
        </p:spPr>
        <p:style>
          <a:lnRef idx="0">
            <a:scrgbClr r="0" g="0" b="0"/>
          </a:lnRef>
          <a:fillRef idx="0">
            <a:scrgbClr r="0" g="0" b="0"/>
          </a:fillRef>
          <a:effectRef idx="0">
            <a:scrgbClr r="0" g="0" b="0"/>
          </a:effectRef>
          <a:fontRef idx="minor"/>
        </p:style>
        <p:txBody>
          <a:bodyPr vertOverflow="clip" lIns="90000" tIns="-35640" rIns="90000" bIns="-35640" anchor="ctr">
            <a:noAutofit/>
          </a:bodyPr>
          <a:lstStyle/>
          <a:p>
            <a:pPr algn="ctr" defTabSz="914400">
              <a:lnSpc>
                <a:spcPct val="100000"/>
              </a:lnSpc>
            </a:pPr>
            <a:endParaRPr lang="en-US" sz="1800" b="0" u="none" strike="noStrike">
              <a:solidFill>
                <a:srgbClr val="000000"/>
              </a:solidFill>
              <a:effectLst/>
              <a:uFillTx/>
              <a:latin typeface="OpenSymbol"/>
            </a:endParaRPr>
          </a:p>
        </p:txBody>
      </p:sp>
      <p:sp>
        <p:nvSpPr>
          <p:cNvPr id="72" name="Isosceles Triangle 71"/>
          <p:cNvSpPr/>
          <p:nvPr/>
        </p:nvSpPr>
        <p:spPr>
          <a:xfrm rot="5400000">
            <a:off x="4210560" y="3933720"/>
            <a:ext cx="66240" cy="66240"/>
          </a:xfrm>
          <a:prstGeom prst="triangle">
            <a:avLst>
              <a:gd name="adj" fmla="val 50000"/>
            </a:avLst>
          </a:prstGeom>
          <a:solidFill>
            <a:srgbClr val="D9D9D9"/>
          </a:solidFill>
          <a:ln w="0">
            <a:noFill/>
          </a:ln>
        </p:spPr>
        <p:style>
          <a:lnRef idx="0">
            <a:scrgbClr r="0" g="0" b="0"/>
          </a:lnRef>
          <a:fillRef idx="0">
            <a:scrgbClr r="0" g="0" b="0"/>
          </a:fillRef>
          <a:effectRef idx="0">
            <a:scrgbClr r="0" g="0" b="0"/>
          </a:effectRef>
          <a:fontRef idx="minor"/>
        </p:style>
        <p:txBody>
          <a:bodyPr vertOverflow="clip" lIns="90000" tIns="-11520" rIns="90000" bIns="-11520" anchor="ctr">
            <a:noAutofit/>
          </a:bodyPr>
          <a:lstStyle/>
          <a:p>
            <a:pPr algn="ctr" defTabSz="914400">
              <a:lnSpc>
                <a:spcPct val="100000"/>
              </a:lnSpc>
            </a:pPr>
            <a:endParaRPr lang="en-US" sz="1800" b="0" u="none" strike="noStrike">
              <a:solidFill>
                <a:srgbClr val="000000"/>
              </a:solidFill>
              <a:effectLst/>
              <a:uFillTx/>
              <a:latin typeface="OpenSymbol"/>
            </a:endParaRPr>
          </a:p>
        </p:txBody>
      </p:sp>
      <p:sp>
        <p:nvSpPr>
          <p:cNvPr id="73" name="Rectangle 72"/>
          <p:cNvSpPr/>
          <p:nvPr/>
        </p:nvSpPr>
        <p:spPr>
          <a:xfrm>
            <a:off x="819000" y="571680"/>
            <a:ext cx="2095200" cy="79020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2600" b="1" u="none" strike="noStrike">
                <a:solidFill>
                  <a:srgbClr val="FFFFFF"/>
                </a:solidFill>
                <a:effectLst/>
                <a:uFillTx/>
                <a:latin typeface="Manrope"/>
              </a:rPr>
              <a:t>User Workflow</a:t>
            </a:r>
            <a:endParaRPr lang="en-US" sz="2600" b="0" u="none" strike="noStrike">
              <a:solidFill>
                <a:srgbClr val="FFFFFF"/>
              </a:solidFill>
              <a:effectLst/>
              <a:uFillTx/>
              <a:latin typeface="OpenSymbol"/>
            </a:endParaRPr>
          </a:p>
        </p:txBody>
      </p:sp>
      <p:sp>
        <p:nvSpPr>
          <p:cNvPr id="74" name="Rectangle 73"/>
          <p:cNvSpPr/>
          <p:nvPr/>
        </p:nvSpPr>
        <p:spPr>
          <a:xfrm>
            <a:off x="4486320" y="923760"/>
            <a:ext cx="1399680" cy="580680"/>
          </a:xfrm>
          <a:prstGeom prst="rect">
            <a:avLst/>
          </a:prstGeom>
          <a:noFill/>
          <a:ln w="0">
            <a:noFill/>
          </a:ln>
        </p:spPr>
        <p:style>
          <a:lnRef idx="0">
            <a:scrgbClr r="0" g="0" b="0"/>
          </a:lnRef>
          <a:fillRef idx="0">
            <a:scrgbClr r="0" g="0" b="0"/>
          </a:fillRef>
          <a:effectRef idx="0">
            <a:scrgbClr r="0" g="0" b="0"/>
          </a:effectRef>
          <a:fontRef idx="minor"/>
        </p:style>
        <p:txBody>
          <a:bodyPr anchor="ctr">
            <a:normAutofit/>
          </a:bodyPr>
          <a:lstStyle/>
          <a:p>
            <a:pPr defTabSz="914400">
              <a:lnSpc>
                <a:spcPct val="100000"/>
              </a:lnSpc>
              <a:tabLst>
                <a:tab pos="0" algn="l"/>
              </a:tabLst>
            </a:pPr>
            <a:r>
              <a:rPr lang="en-US" sz="1400" b="0" u="none" strike="noStrike">
                <a:solidFill>
                  <a:srgbClr val="FFFFFF"/>
                </a:solidFill>
                <a:effectLst/>
                <a:uFillTx/>
                <a:latin typeface="Manrope"/>
              </a:rPr>
              <a:t>User Registers</a:t>
            </a:r>
            <a:endParaRPr lang="en-US" sz="1400" b="0" u="none" strike="noStrike">
              <a:solidFill>
                <a:srgbClr val="FFFFFF"/>
              </a:solidFill>
              <a:effectLst/>
              <a:uFillTx/>
              <a:latin typeface="OpenSymbol"/>
            </a:endParaRPr>
          </a:p>
        </p:txBody>
      </p:sp>
      <p:sp>
        <p:nvSpPr>
          <p:cNvPr id="75" name="Rectangle 74"/>
          <p:cNvSpPr/>
          <p:nvPr/>
        </p:nvSpPr>
        <p:spPr>
          <a:xfrm>
            <a:off x="6058080" y="771480"/>
            <a:ext cx="2266560" cy="361440"/>
          </a:xfrm>
          <a:prstGeom prst="rect">
            <a:avLst/>
          </a:prstGeom>
          <a:noFill/>
          <a:ln w="0">
            <a:noFill/>
          </a:ln>
        </p:spPr>
        <p:style>
          <a:lnRef idx="0">
            <a:scrgbClr r="0" g="0" b="0"/>
          </a:lnRef>
          <a:fillRef idx="0">
            <a:scrgbClr r="0" g="0" b="0"/>
          </a:fillRef>
          <a:effectRef idx="0">
            <a:scrgbClr r="0" g="0" b="0"/>
          </a:effectRef>
          <a:fontRef idx="minor"/>
        </p:style>
        <p:txBody>
          <a:bodyPr anchor="ctr">
            <a:normAutofit fontScale="85000" lnSpcReduction="19999"/>
          </a:bodyPr>
          <a:lstStyle/>
          <a:p>
            <a:pPr defTabSz="914400">
              <a:lnSpc>
                <a:spcPct val="100000"/>
              </a:lnSpc>
              <a:tabLst>
                <a:tab pos="0" algn="l"/>
              </a:tabLst>
            </a:pPr>
            <a:r>
              <a:rPr lang="en-US" sz="1200" b="0" u="none" strike="noStrike">
                <a:solidFill>
                  <a:srgbClr val="FFFFFF"/>
                </a:solidFill>
                <a:effectLst/>
                <a:uFillTx/>
                <a:latin typeface="Funnel Sans"/>
              </a:rPr>
              <a:t>User signs up, providing basic contact and account details.</a:t>
            </a:r>
            <a:endParaRPr lang="en-US" sz="1200" b="0" u="none" strike="noStrike">
              <a:solidFill>
                <a:srgbClr val="FFFFFF"/>
              </a:solidFill>
              <a:effectLst/>
              <a:uFillTx/>
              <a:latin typeface="OpenSymbol"/>
            </a:endParaRPr>
          </a:p>
        </p:txBody>
      </p:sp>
      <p:sp>
        <p:nvSpPr>
          <p:cNvPr id="76" name="Rectangle 75"/>
          <p:cNvSpPr/>
          <p:nvPr/>
        </p:nvSpPr>
        <p:spPr>
          <a:xfrm>
            <a:off x="4486320" y="1847880"/>
            <a:ext cx="1399680" cy="361440"/>
          </a:xfrm>
          <a:prstGeom prst="rect">
            <a:avLst/>
          </a:prstGeom>
          <a:noFill/>
          <a:ln w="0">
            <a:noFill/>
          </a:ln>
        </p:spPr>
        <p:style>
          <a:lnRef idx="0">
            <a:scrgbClr r="0" g="0" b="0"/>
          </a:lnRef>
          <a:fillRef idx="0">
            <a:scrgbClr r="0" g="0" b="0"/>
          </a:fillRef>
          <a:effectRef idx="0">
            <a:scrgbClr r="0" g="0" b="0"/>
          </a:effectRef>
          <a:fontRef idx="minor"/>
        </p:style>
        <p:txBody>
          <a:bodyPr anchor="ctr">
            <a:normAutofit/>
          </a:bodyPr>
          <a:lstStyle/>
          <a:p>
            <a:pPr defTabSz="914400">
              <a:lnSpc>
                <a:spcPct val="100000"/>
              </a:lnSpc>
              <a:tabLst>
                <a:tab pos="0" algn="l"/>
              </a:tabLst>
            </a:pPr>
            <a:r>
              <a:rPr lang="en-US" sz="1400" b="0" u="none" strike="noStrike">
                <a:solidFill>
                  <a:srgbClr val="FFFFFF"/>
                </a:solidFill>
                <a:effectLst/>
                <a:uFillTx/>
                <a:latin typeface="Manrope"/>
              </a:rPr>
              <a:t>Email Verify</a:t>
            </a:r>
            <a:endParaRPr lang="en-US" sz="1400" b="0" u="none" strike="noStrike">
              <a:solidFill>
                <a:srgbClr val="FFFFFF"/>
              </a:solidFill>
              <a:effectLst/>
              <a:uFillTx/>
              <a:latin typeface="OpenSymbol"/>
            </a:endParaRPr>
          </a:p>
        </p:txBody>
      </p:sp>
      <p:sp>
        <p:nvSpPr>
          <p:cNvPr id="77" name="Rectangle 76"/>
          <p:cNvSpPr/>
          <p:nvPr/>
        </p:nvSpPr>
        <p:spPr>
          <a:xfrm>
            <a:off x="6058080" y="1695600"/>
            <a:ext cx="2266560" cy="361440"/>
          </a:xfrm>
          <a:prstGeom prst="rect">
            <a:avLst/>
          </a:prstGeom>
          <a:noFill/>
          <a:ln w="0">
            <a:noFill/>
          </a:ln>
        </p:spPr>
        <p:style>
          <a:lnRef idx="0">
            <a:scrgbClr r="0" g="0" b="0"/>
          </a:lnRef>
          <a:fillRef idx="0">
            <a:scrgbClr r="0" g="0" b="0"/>
          </a:fillRef>
          <a:effectRef idx="0">
            <a:scrgbClr r="0" g="0" b="0"/>
          </a:effectRef>
          <a:fontRef idx="minor"/>
        </p:style>
        <p:txBody>
          <a:bodyPr anchor="ctr">
            <a:normAutofit fontScale="85000" lnSpcReduction="19999"/>
          </a:bodyPr>
          <a:lstStyle/>
          <a:p>
            <a:pPr defTabSz="914400">
              <a:lnSpc>
                <a:spcPct val="100000"/>
              </a:lnSpc>
              <a:tabLst>
                <a:tab pos="0" algn="l"/>
              </a:tabLst>
            </a:pPr>
            <a:r>
              <a:rPr lang="en-US" sz="1200" b="0" u="none" strike="noStrike">
                <a:solidFill>
                  <a:srgbClr val="FFFFFF"/>
                </a:solidFill>
                <a:effectLst/>
                <a:uFillTx/>
                <a:latin typeface="Funnel Sans"/>
              </a:rPr>
              <a:t>System sends a verification link; user confirms email.</a:t>
            </a:r>
            <a:endParaRPr lang="en-US" sz="1200" b="0" u="none" strike="noStrike">
              <a:solidFill>
                <a:srgbClr val="FFFFFF"/>
              </a:solidFill>
              <a:effectLst/>
              <a:uFillTx/>
              <a:latin typeface="OpenSymbol"/>
            </a:endParaRPr>
          </a:p>
        </p:txBody>
      </p:sp>
      <p:sp>
        <p:nvSpPr>
          <p:cNvPr id="78" name="Rectangle 77"/>
          <p:cNvSpPr/>
          <p:nvPr/>
        </p:nvSpPr>
        <p:spPr>
          <a:xfrm>
            <a:off x="4486320" y="2781360"/>
            <a:ext cx="1399680" cy="790200"/>
          </a:xfrm>
          <a:prstGeom prst="rect">
            <a:avLst/>
          </a:prstGeom>
          <a:noFill/>
          <a:ln w="0">
            <a:noFill/>
          </a:ln>
        </p:spPr>
        <p:style>
          <a:lnRef idx="0">
            <a:scrgbClr r="0" g="0" b="0"/>
          </a:lnRef>
          <a:fillRef idx="0">
            <a:scrgbClr r="0" g="0" b="0"/>
          </a:fillRef>
          <a:effectRef idx="0">
            <a:scrgbClr r="0" g="0" b="0"/>
          </a:effectRef>
          <a:fontRef idx="minor"/>
        </p:style>
        <p:txBody>
          <a:bodyPr anchor="ctr">
            <a:normAutofit/>
          </a:bodyPr>
          <a:lstStyle/>
          <a:p>
            <a:pPr defTabSz="914400">
              <a:lnSpc>
                <a:spcPct val="100000"/>
              </a:lnSpc>
              <a:tabLst>
                <a:tab pos="0" algn="l"/>
              </a:tabLst>
            </a:pPr>
            <a:r>
              <a:rPr lang="en-US" sz="1400" b="0" u="none" strike="noStrike">
                <a:solidFill>
                  <a:srgbClr val="FFFFFF"/>
                </a:solidFill>
                <a:effectLst/>
                <a:uFillTx/>
                <a:latin typeface="Manrope"/>
              </a:rPr>
              <a:t>Add Monitored Email</a:t>
            </a:r>
            <a:endParaRPr lang="en-US" sz="1400" b="0" u="none" strike="noStrike">
              <a:solidFill>
                <a:srgbClr val="FFFFFF"/>
              </a:solidFill>
              <a:effectLst/>
              <a:uFillTx/>
              <a:latin typeface="OpenSymbol"/>
            </a:endParaRPr>
          </a:p>
        </p:txBody>
      </p:sp>
      <p:sp>
        <p:nvSpPr>
          <p:cNvPr id="79" name="Rectangle 78"/>
          <p:cNvSpPr/>
          <p:nvPr/>
        </p:nvSpPr>
        <p:spPr>
          <a:xfrm>
            <a:off x="6058080" y="2629080"/>
            <a:ext cx="2266560" cy="361440"/>
          </a:xfrm>
          <a:prstGeom prst="rect">
            <a:avLst/>
          </a:prstGeom>
          <a:noFill/>
          <a:ln w="0">
            <a:noFill/>
          </a:ln>
        </p:spPr>
        <p:style>
          <a:lnRef idx="0">
            <a:scrgbClr r="0" g="0" b="0"/>
          </a:lnRef>
          <a:fillRef idx="0">
            <a:scrgbClr r="0" g="0" b="0"/>
          </a:fillRef>
          <a:effectRef idx="0">
            <a:scrgbClr r="0" g="0" b="0"/>
          </a:effectRef>
          <a:fontRef idx="minor"/>
        </p:style>
        <p:txBody>
          <a:bodyPr anchor="ctr">
            <a:normAutofit fontScale="85000" lnSpcReduction="19999"/>
          </a:bodyPr>
          <a:lstStyle/>
          <a:p>
            <a:pPr defTabSz="914400">
              <a:lnSpc>
                <a:spcPct val="100000"/>
              </a:lnSpc>
              <a:tabLst>
                <a:tab pos="0" algn="l"/>
              </a:tabLst>
            </a:pPr>
            <a:r>
              <a:rPr lang="en-US" sz="1200" b="0" u="none" strike="noStrike">
                <a:solidFill>
                  <a:srgbClr val="FFFFFF"/>
                </a:solidFill>
                <a:effectLst/>
                <a:uFillTx/>
                <a:latin typeface="Funnel Sans"/>
              </a:rPr>
              <a:t>User selects or adds the email to monitor for breaches.</a:t>
            </a:r>
            <a:endParaRPr lang="en-US" sz="1200" b="0" u="none" strike="noStrike">
              <a:solidFill>
                <a:srgbClr val="FFFFFF"/>
              </a:solidFill>
              <a:effectLst/>
              <a:uFillTx/>
              <a:latin typeface="OpenSymbol"/>
            </a:endParaRPr>
          </a:p>
        </p:txBody>
      </p:sp>
      <p:sp>
        <p:nvSpPr>
          <p:cNvPr id="80" name="Rectangle 79"/>
          <p:cNvSpPr/>
          <p:nvPr/>
        </p:nvSpPr>
        <p:spPr>
          <a:xfrm>
            <a:off x="4486320" y="3714840"/>
            <a:ext cx="1399680" cy="361440"/>
          </a:xfrm>
          <a:prstGeom prst="rect">
            <a:avLst/>
          </a:prstGeom>
          <a:noFill/>
          <a:ln w="0">
            <a:noFill/>
          </a:ln>
        </p:spPr>
        <p:style>
          <a:lnRef idx="0">
            <a:scrgbClr r="0" g="0" b="0"/>
          </a:lnRef>
          <a:fillRef idx="0">
            <a:scrgbClr r="0" g="0" b="0"/>
          </a:fillRef>
          <a:effectRef idx="0">
            <a:scrgbClr r="0" g="0" b="0"/>
          </a:effectRef>
          <a:fontRef idx="minor"/>
        </p:style>
        <p:txBody>
          <a:bodyPr anchor="ctr">
            <a:normAutofit/>
          </a:bodyPr>
          <a:lstStyle/>
          <a:p>
            <a:pPr defTabSz="914400">
              <a:lnSpc>
                <a:spcPct val="100000"/>
              </a:lnSpc>
              <a:tabLst>
                <a:tab pos="0" algn="l"/>
              </a:tabLst>
            </a:pPr>
            <a:r>
              <a:rPr lang="en-US" sz="1400" b="0" u="none" strike="noStrike">
                <a:solidFill>
                  <a:srgbClr val="FFFFFF"/>
                </a:solidFill>
                <a:effectLst/>
                <a:uFillTx/>
                <a:latin typeface="Manrope"/>
              </a:rPr>
              <a:t>Trigger Scan</a:t>
            </a:r>
            <a:endParaRPr lang="en-US" sz="1400" b="0" u="none" strike="noStrike">
              <a:solidFill>
                <a:srgbClr val="FFFFFF"/>
              </a:solidFill>
              <a:effectLst/>
              <a:uFillTx/>
              <a:latin typeface="OpenSymbol"/>
            </a:endParaRPr>
          </a:p>
        </p:txBody>
      </p:sp>
      <p:sp>
        <p:nvSpPr>
          <p:cNvPr id="81" name="Rectangle 80"/>
          <p:cNvSpPr/>
          <p:nvPr/>
        </p:nvSpPr>
        <p:spPr>
          <a:xfrm>
            <a:off x="6058080" y="3562200"/>
            <a:ext cx="2266560" cy="361440"/>
          </a:xfrm>
          <a:prstGeom prst="rect">
            <a:avLst/>
          </a:prstGeom>
          <a:noFill/>
          <a:ln w="0">
            <a:noFill/>
          </a:ln>
        </p:spPr>
        <p:style>
          <a:lnRef idx="0">
            <a:scrgbClr r="0" g="0" b="0"/>
          </a:lnRef>
          <a:fillRef idx="0">
            <a:scrgbClr r="0" g="0" b="0"/>
          </a:fillRef>
          <a:effectRef idx="0">
            <a:scrgbClr r="0" g="0" b="0"/>
          </a:effectRef>
          <a:fontRef idx="minor"/>
        </p:style>
        <p:txBody>
          <a:bodyPr anchor="ctr">
            <a:normAutofit fontScale="85000" lnSpcReduction="19999"/>
          </a:bodyPr>
          <a:lstStyle/>
          <a:p>
            <a:pPr defTabSz="914400">
              <a:lnSpc>
                <a:spcPct val="100000"/>
              </a:lnSpc>
              <a:tabLst>
                <a:tab pos="0" algn="l"/>
              </a:tabLst>
            </a:pPr>
            <a:r>
              <a:rPr lang="en-US" sz="1200" b="0" u="none" strike="noStrike">
                <a:solidFill>
                  <a:srgbClr val="FFFFFF"/>
                </a:solidFill>
                <a:effectLst/>
                <a:uFillTx/>
                <a:latin typeface="Funnel Sans"/>
              </a:rPr>
              <a:t>A manual or scheduled scan is initiated against HIBP.</a:t>
            </a:r>
            <a:endParaRPr lang="en-US" sz="1200" b="0" u="none" strike="noStrike">
              <a:solidFill>
                <a:srgbClr val="FFFFFF"/>
              </a:solidFill>
              <a:effectLst/>
              <a:uFillTx/>
              <a:latin typeface="OpenSymbo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Rectangle 81"/>
          <p:cNvSpPr/>
          <p:nvPr/>
        </p:nvSpPr>
        <p:spPr>
          <a:xfrm>
            <a:off x="819000" y="628560"/>
            <a:ext cx="7505280" cy="36144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85000" lnSpcReduction="19999"/>
          </a:bodyPr>
          <a:lstStyle/>
          <a:p>
            <a:pPr defTabSz="914400">
              <a:lnSpc>
                <a:spcPct val="100000"/>
              </a:lnSpc>
              <a:tabLst>
                <a:tab pos="0" algn="l"/>
              </a:tabLst>
            </a:pPr>
            <a:r>
              <a:rPr lang="en-US" sz="2400" b="1" u="none" strike="noStrike">
                <a:solidFill>
                  <a:srgbClr val="FFFFFF"/>
                </a:solidFill>
                <a:effectLst/>
                <a:uFillTx/>
                <a:latin typeface="Manrope"/>
              </a:rPr>
              <a:t>Layered Architecture Wins</a:t>
            </a:r>
            <a:endParaRPr lang="en-US" sz="2400" b="0" u="none" strike="noStrike">
              <a:solidFill>
                <a:srgbClr val="FFFFFF"/>
              </a:solidFill>
              <a:effectLst/>
              <a:uFillTx/>
              <a:latin typeface="OpenSymbol"/>
            </a:endParaRPr>
          </a:p>
        </p:txBody>
      </p:sp>
      <p:sp>
        <p:nvSpPr>
          <p:cNvPr id="83" name="Rectangle 82"/>
          <p:cNvSpPr/>
          <p:nvPr/>
        </p:nvSpPr>
        <p:spPr>
          <a:xfrm>
            <a:off x="819000" y="1467000"/>
            <a:ext cx="3580920" cy="1095120"/>
          </a:xfrm>
          <a:prstGeom prst="rect">
            <a:avLst/>
          </a:prstGeom>
          <a:noFill/>
          <a:ln w="0">
            <a:noFill/>
          </a:ln>
        </p:spPr>
        <p:style>
          <a:lnRef idx="0">
            <a:scrgbClr r="0" g="0" b="0"/>
          </a:lnRef>
          <a:fillRef idx="0">
            <a:scrgbClr r="0" g="0" b="0"/>
          </a:fillRef>
          <a:effectRef idx="0">
            <a:scrgbClr r="0" g="0" b="0"/>
          </a:effectRef>
          <a:fontRef idx="minor"/>
        </p:style>
        <p:txBody>
          <a:bodyPr anchor="t">
            <a:normAutofit lnSpcReduction="9999"/>
          </a:bodyPr>
          <a:lstStyle/>
          <a:p>
            <a:pPr defTabSz="914400">
              <a:lnSpc>
                <a:spcPct val="100000"/>
              </a:lnSpc>
              <a:tabLst>
                <a:tab pos="0" algn="l"/>
              </a:tabLst>
            </a:pPr>
            <a:r>
              <a:rPr lang="en-US" sz="1200" b="0" u="none" strike="noStrike">
                <a:solidFill>
                  <a:srgbClr val="FFFFFF"/>
                </a:solidFill>
                <a:effectLst/>
                <a:uFillTx/>
                <a:latin typeface="Funnel Sans"/>
              </a:rPr>
              <a:t>The UI runs in React (Vite, Tailwind) and talks to a slim Express API. Responsibilities are partitioned: authentication, data persistence (PostgreSQL via Prisma), and caching (Redis) sit behind the API. This separation clarifies integration points with HIBP, SMTP, and external services, and eases</a:t>
            </a:r>
            <a:r>
              <a:rPr lang="zh-CN" sz="1200" b="0" u="none" strike="noStrike">
                <a:solidFill>
                  <a:srgbClr val="FFFFFF"/>
                </a:solidFill>
                <a:effectLst/>
                <a:uFillTx/>
                <a:latin typeface="Funnel Sans"/>
              </a:rPr>
              <a:t>测试</a:t>
            </a:r>
            <a:r>
              <a:rPr lang="en-US" sz="1200" b="0" u="none" strike="noStrike">
                <a:solidFill>
                  <a:srgbClr val="FFFFFF"/>
                </a:solidFill>
                <a:effectLst/>
                <a:uFillTx/>
                <a:latin typeface="Funnel Sans"/>
              </a:rPr>
              <a:t>,</a:t>
            </a:r>
            <a:endParaRPr lang="en-US" sz="1200" b="0" u="none" strike="noStrike">
              <a:solidFill>
                <a:srgbClr val="FFFFFF"/>
              </a:solidFill>
              <a:effectLst/>
              <a:uFillTx/>
              <a:latin typeface="OpenSymbol"/>
            </a:endParaRPr>
          </a:p>
        </p:txBody>
      </p:sp>
      <p:sp>
        <p:nvSpPr>
          <p:cNvPr id="84" name="Rectangle 83"/>
          <p:cNvSpPr/>
          <p:nvPr/>
        </p:nvSpPr>
        <p:spPr>
          <a:xfrm>
            <a:off x="4743360" y="1467000"/>
            <a:ext cx="3580920" cy="127584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1200" b="0" u="none" strike="noStrike">
                <a:solidFill>
                  <a:srgbClr val="FFFFFF"/>
                </a:solidFill>
                <a:effectLst/>
                <a:uFillTx/>
                <a:latin typeface="Funnel Sans"/>
              </a:rPr>
              <a:t>A single, all‑in‑one stack blurs boundaries between UI, auth, data, and external services. It increases coupling, makes caching and rate‑limit handling opaque, and complicates changes to external APIs or notification flows. The result is slower iteration and higher risk when security or performance</a:t>
            </a:r>
            <a:endParaRPr lang="en-US" sz="1200" b="0" u="none" strike="noStrike">
              <a:solidFill>
                <a:srgbClr val="FFFFFF"/>
              </a:solidFill>
              <a:effectLst/>
              <a:uFillTx/>
              <a:latin typeface="OpenSymbol"/>
            </a:endParaRPr>
          </a:p>
          <a:p>
            <a:pPr defTabSz="914400">
              <a:lnSpc>
                <a:spcPct val="100000"/>
              </a:lnSpc>
              <a:tabLst>
                <a:tab pos="0" algn="l"/>
              </a:tabLst>
            </a:pPr>
            <a:endParaRPr lang="en-US" sz="1200" b="0" u="none" strike="noStrike">
              <a:solidFill>
                <a:srgbClr val="FFFFFF"/>
              </a:solidFill>
              <a:effectLst/>
              <a:uFillTx/>
              <a:latin typeface="OpenSymbol"/>
            </a:endParaRPr>
          </a:p>
        </p:txBody>
      </p:sp>
      <p:sp>
        <p:nvSpPr>
          <p:cNvPr id="85" name="Rectangle 84"/>
          <p:cNvSpPr/>
          <p:nvPr/>
        </p:nvSpPr>
        <p:spPr>
          <a:xfrm>
            <a:off x="819000" y="4181400"/>
            <a:ext cx="7505280" cy="18072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55000" lnSpcReduction="19999"/>
          </a:bodyPr>
          <a:lstStyle/>
          <a:p>
            <a:pPr defTabSz="914400">
              <a:lnSpc>
                <a:spcPct val="100000"/>
              </a:lnSpc>
              <a:tabLst>
                <a:tab pos="0" algn="l"/>
              </a:tabLst>
            </a:pPr>
            <a:r>
              <a:rPr lang="en-US" sz="1200" b="0" u="none" strike="noStrike">
                <a:solidFill>
                  <a:srgbClr val="FFFFFF"/>
                </a:solidFill>
                <a:effectLst/>
                <a:uFillTx/>
                <a:latin typeface="Funnel Sans"/>
              </a:rPr>
              <a:t>Layered design improves clarity, testing, and integration flexibility.</a:t>
            </a:r>
            <a:endParaRPr lang="en-US" sz="1200" b="0" u="none" strike="noStrike">
              <a:solidFill>
                <a:srgbClr val="FFFFFF"/>
              </a:solidFill>
              <a:effectLst/>
              <a:uFillTx/>
              <a:latin typeface="OpenSymbo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Rectangle 85"/>
          <p:cNvSpPr/>
          <p:nvPr/>
        </p:nvSpPr>
        <p:spPr>
          <a:xfrm>
            <a:off x="819000" y="628560"/>
            <a:ext cx="7505280" cy="36144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85000" lnSpcReduction="19999"/>
          </a:bodyPr>
          <a:lstStyle/>
          <a:p>
            <a:pPr defTabSz="914400">
              <a:lnSpc>
                <a:spcPct val="100000"/>
              </a:lnSpc>
              <a:tabLst>
                <a:tab pos="0" algn="l"/>
              </a:tabLst>
            </a:pPr>
            <a:r>
              <a:rPr lang="en-US" sz="2400" b="1" u="none" strike="noStrike">
                <a:solidFill>
                  <a:srgbClr val="FFFFFF"/>
                </a:solidFill>
                <a:effectLst/>
                <a:uFillTx/>
                <a:latin typeface="Manrope"/>
              </a:rPr>
              <a:t>Cache Impact</a:t>
            </a:r>
            <a:endParaRPr lang="en-US" sz="2400" b="0" u="none" strike="noStrike">
              <a:solidFill>
                <a:srgbClr val="FFFFFF"/>
              </a:solidFill>
              <a:effectLst/>
              <a:uFillTx/>
              <a:latin typeface="OpenSymbol"/>
            </a:endParaRPr>
          </a:p>
        </p:txBody>
      </p:sp>
      <p:sp>
        <p:nvSpPr>
          <p:cNvPr id="87" name="Rectangle 86"/>
          <p:cNvSpPr/>
          <p:nvPr/>
        </p:nvSpPr>
        <p:spPr>
          <a:xfrm>
            <a:off x="819000" y="1552680"/>
            <a:ext cx="2180880" cy="361440"/>
          </a:xfrm>
          <a:prstGeom prst="rect">
            <a:avLst/>
          </a:prstGeom>
          <a:noFill/>
          <a:ln w="0">
            <a:noFill/>
          </a:ln>
        </p:spPr>
        <p:style>
          <a:lnRef idx="0">
            <a:scrgbClr r="0" g="0" b="0"/>
          </a:lnRef>
          <a:fillRef idx="0">
            <a:scrgbClr r="0" g="0" b="0"/>
          </a:fillRef>
          <a:effectRef idx="0">
            <a:scrgbClr r="0" g="0" b="0"/>
          </a:effectRef>
          <a:fontRef idx="minor"/>
        </p:style>
        <p:txBody>
          <a:bodyPr anchor="ctr">
            <a:normAutofit/>
          </a:bodyPr>
          <a:lstStyle/>
          <a:p>
            <a:pPr defTabSz="914400">
              <a:lnSpc>
                <a:spcPct val="100000"/>
              </a:lnSpc>
              <a:tabLst>
                <a:tab pos="0" algn="l"/>
              </a:tabLst>
            </a:pPr>
            <a:r>
              <a:rPr lang="en-US" sz="1400" b="0" u="none" strike="noStrike">
                <a:solidFill>
                  <a:srgbClr val="FFFFFF"/>
                </a:solidFill>
                <a:effectLst/>
                <a:uFillTx/>
                <a:latin typeface="Funnel Sans"/>
              </a:rPr>
              <a:t>Cache Hit Rate</a:t>
            </a:r>
            <a:endParaRPr lang="en-US" sz="1400" b="0" u="none" strike="noStrike">
              <a:solidFill>
                <a:srgbClr val="FFFFFF"/>
              </a:solidFill>
              <a:effectLst/>
              <a:uFillTx/>
              <a:latin typeface="OpenSymbol"/>
            </a:endParaRPr>
          </a:p>
        </p:txBody>
      </p:sp>
      <p:sp>
        <p:nvSpPr>
          <p:cNvPr id="88" name="Rectangle 87"/>
          <p:cNvSpPr/>
          <p:nvPr/>
        </p:nvSpPr>
        <p:spPr>
          <a:xfrm>
            <a:off x="3171960" y="1552680"/>
            <a:ext cx="2361960" cy="514080"/>
          </a:xfrm>
          <a:prstGeom prst="rect">
            <a:avLst/>
          </a:prstGeom>
          <a:noFill/>
          <a:ln w="0">
            <a:noFill/>
          </a:ln>
        </p:spPr>
        <p:style>
          <a:lnRef idx="0">
            <a:scrgbClr r="0" g="0" b="0"/>
          </a:lnRef>
          <a:fillRef idx="0">
            <a:scrgbClr r="0" g="0" b="0"/>
          </a:fillRef>
          <a:effectRef idx="0">
            <a:scrgbClr r="0" g="0" b="0"/>
          </a:effectRef>
          <a:fontRef idx="minor"/>
        </p:style>
        <p:txBody>
          <a:bodyPr anchor="ctr">
            <a:normAutofit/>
          </a:bodyPr>
          <a:lstStyle/>
          <a:p>
            <a:pPr defTabSz="914400">
              <a:lnSpc>
                <a:spcPct val="100000"/>
              </a:lnSpc>
              <a:tabLst>
                <a:tab pos="0" algn="l"/>
              </a:tabLst>
            </a:pPr>
            <a:r>
              <a:rPr lang="en-US" sz="1200" b="0" u="none" strike="noStrike">
                <a:solidFill>
                  <a:srgbClr val="FFFFFF"/>
                </a:solidFill>
                <a:effectLst/>
                <a:uFillTx/>
                <a:latin typeface="Funnel Sans"/>
              </a:rPr>
              <a:t>Test load shows 72% of requests served from Redis.</a:t>
            </a:r>
            <a:endParaRPr lang="en-US" sz="1200" b="0" u="none" strike="noStrike">
              <a:solidFill>
                <a:srgbClr val="FFFFFF"/>
              </a:solidFill>
              <a:effectLst/>
              <a:uFillTx/>
              <a:latin typeface="OpenSymbol"/>
            </a:endParaRPr>
          </a:p>
        </p:txBody>
      </p:sp>
      <p:sp>
        <p:nvSpPr>
          <p:cNvPr id="89" name="Rectangle 88"/>
          <p:cNvSpPr/>
          <p:nvPr/>
        </p:nvSpPr>
        <p:spPr>
          <a:xfrm>
            <a:off x="5705640" y="1552680"/>
            <a:ext cx="2619000" cy="1066320"/>
          </a:xfrm>
          <a:prstGeom prst="rect">
            <a:avLst/>
          </a:prstGeom>
          <a:noFill/>
          <a:ln w="0">
            <a:noFill/>
          </a:ln>
        </p:spPr>
        <p:style>
          <a:lnRef idx="0">
            <a:scrgbClr r="0" g="0" b="0"/>
          </a:lnRef>
          <a:fillRef idx="0">
            <a:scrgbClr r="0" g="0" b="0"/>
          </a:fillRef>
          <a:effectRef idx="0">
            <a:scrgbClr r="0" g="0" b="0"/>
          </a:effectRef>
          <a:fontRef idx="minor"/>
        </p:style>
        <p:txBody>
          <a:bodyPr anchor="ctr">
            <a:normAutofit/>
          </a:bodyPr>
          <a:lstStyle/>
          <a:p>
            <a:pPr algn="r" defTabSz="914400">
              <a:lnSpc>
                <a:spcPct val="100000"/>
              </a:lnSpc>
              <a:tabLst>
                <a:tab pos="0" algn="l"/>
              </a:tabLst>
            </a:pPr>
            <a:r>
              <a:rPr lang="en-US" sz="6000" b="0" u="none" strike="noStrike">
                <a:solidFill>
                  <a:srgbClr val="FFFFFF"/>
                </a:solidFill>
                <a:effectLst/>
                <a:uFillTx/>
                <a:latin typeface="Funnel Sans"/>
              </a:rPr>
              <a:t>72%</a:t>
            </a:r>
            <a:endParaRPr lang="en-US" sz="6000" b="0" u="none" strike="noStrike">
              <a:solidFill>
                <a:srgbClr val="FFFFFF"/>
              </a:solidFill>
              <a:effectLst/>
              <a:uFillTx/>
              <a:latin typeface="OpenSymbol"/>
            </a:endParaRPr>
          </a:p>
        </p:txBody>
      </p:sp>
      <p:sp>
        <p:nvSpPr>
          <p:cNvPr id="90" name="Rectangle 89"/>
          <p:cNvSpPr/>
          <p:nvPr/>
        </p:nvSpPr>
        <p:spPr>
          <a:xfrm>
            <a:off x="819000" y="2514600"/>
            <a:ext cx="2180880" cy="361440"/>
          </a:xfrm>
          <a:prstGeom prst="rect">
            <a:avLst/>
          </a:prstGeom>
          <a:noFill/>
          <a:ln w="0">
            <a:noFill/>
          </a:ln>
        </p:spPr>
        <p:style>
          <a:lnRef idx="0">
            <a:scrgbClr r="0" g="0" b="0"/>
          </a:lnRef>
          <a:fillRef idx="0">
            <a:scrgbClr r="0" g="0" b="0"/>
          </a:fillRef>
          <a:effectRef idx="0">
            <a:scrgbClr r="0" g="0" b="0"/>
          </a:effectRef>
          <a:fontRef idx="minor"/>
        </p:style>
        <p:txBody>
          <a:bodyPr anchor="ctr">
            <a:normAutofit/>
          </a:bodyPr>
          <a:lstStyle/>
          <a:p>
            <a:pPr defTabSz="914400">
              <a:lnSpc>
                <a:spcPct val="100000"/>
              </a:lnSpc>
              <a:tabLst>
                <a:tab pos="0" algn="l"/>
              </a:tabLst>
            </a:pPr>
            <a:r>
              <a:rPr lang="en-US" sz="1400" b="0" u="none" strike="noStrike">
                <a:solidFill>
                  <a:srgbClr val="FFFFFF"/>
                </a:solidFill>
                <a:effectLst/>
                <a:uFillTx/>
                <a:latin typeface="Funnel Sans"/>
              </a:rPr>
              <a:t>Avg API Time (Hit)</a:t>
            </a:r>
            <a:endParaRPr lang="en-US" sz="1400" b="0" u="none" strike="noStrike">
              <a:solidFill>
                <a:srgbClr val="FFFFFF"/>
              </a:solidFill>
              <a:effectLst/>
              <a:uFillTx/>
              <a:latin typeface="OpenSymbol"/>
            </a:endParaRPr>
          </a:p>
        </p:txBody>
      </p:sp>
      <p:sp>
        <p:nvSpPr>
          <p:cNvPr id="91" name="Rectangle 90"/>
          <p:cNvSpPr/>
          <p:nvPr/>
        </p:nvSpPr>
        <p:spPr>
          <a:xfrm>
            <a:off x="3171960" y="2514600"/>
            <a:ext cx="2361960" cy="514080"/>
          </a:xfrm>
          <a:prstGeom prst="rect">
            <a:avLst/>
          </a:prstGeom>
          <a:noFill/>
          <a:ln w="0">
            <a:noFill/>
          </a:ln>
        </p:spPr>
        <p:style>
          <a:lnRef idx="0">
            <a:scrgbClr r="0" g="0" b="0"/>
          </a:lnRef>
          <a:fillRef idx="0">
            <a:scrgbClr r="0" g="0" b="0"/>
          </a:fillRef>
          <a:effectRef idx="0">
            <a:scrgbClr r="0" g="0" b="0"/>
          </a:effectRef>
          <a:fontRef idx="minor"/>
        </p:style>
        <p:txBody>
          <a:bodyPr anchor="ctr">
            <a:normAutofit/>
          </a:bodyPr>
          <a:lstStyle/>
          <a:p>
            <a:pPr defTabSz="914400">
              <a:lnSpc>
                <a:spcPct val="100000"/>
              </a:lnSpc>
              <a:tabLst>
                <a:tab pos="0" algn="l"/>
              </a:tabLst>
            </a:pPr>
            <a:r>
              <a:rPr lang="en-US" sz="1200" b="0" u="none" strike="noStrike">
                <a:solidFill>
                  <a:srgbClr val="FFFFFF"/>
                </a:solidFill>
                <a:effectLst/>
                <a:uFillTx/>
                <a:latin typeface="Funnel Sans"/>
              </a:rPr>
              <a:t>Latency when served from cache is 120ms.</a:t>
            </a:r>
            <a:endParaRPr lang="en-US" sz="1200" b="0" u="none" strike="noStrike">
              <a:solidFill>
                <a:srgbClr val="FFFFFF"/>
              </a:solidFill>
              <a:effectLst/>
              <a:uFillTx/>
              <a:latin typeface="OpenSymbol"/>
            </a:endParaRPr>
          </a:p>
        </p:txBody>
      </p:sp>
      <p:sp>
        <p:nvSpPr>
          <p:cNvPr id="92" name="Rectangle 91"/>
          <p:cNvSpPr/>
          <p:nvPr/>
        </p:nvSpPr>
        <p:spPr>
          <a:xfrm>
            <a:off x="5705640" y="2514600"/>
            <a:ext cx="2619000" cy="1066320"/>
          </a:xfrm>
          <a:prstGeom prst="rect">
            <a:avLst/>
          </a:prstGeom>
          <a:noFill/>
          <a:ln w="0">
            <a:noFill/>
          </a:ln>
        </p:spPr>
        <p:style>
          <a:lnRef idx="0">
            <a:scrgbClr r="0" g="0" b="0"/>
          </a:lnRef>
          <a:fillRef idx="0">
            <a:scrgbClr r="0" g="0" b="0"/>
          </a:fillRef>
          <a:effectRef idx="0">
            <a:scrgbClr r="0" g="0" b="0"/>
          </a:effectRef>
          <a:fontRef idx="minor"/>
        </p:style>
        <p:txBody>
          <a:bodyPr anchor="ctr">
            <a:normAutofit/>
          </a:bodyPr>
          <a:lstStyle/>
          <a:p>
            <a:pPr algn="r" defTabSz="914400">
              <a:lnSpc>
                <a:spcPct val="100000"/>
              </a:lnSpc>
              <a:tabLst>
                <a:tab pos="0" algn="l"/>
              </a:tabLst>
            </a:pPr>
            <a:r>
              <a:rPr lang="en-US" sz="6000" b="0" u="none" strike="noStrike">
                <a:solidFill>
                  <a:srgbClr val="FFFFFF"/>
                </a:solidFill>
                <a:effectLst/>
                <a:uFillTx/>
                <a:latin typeface="Funnel Sans"/>
              </a:rPr>
              <a:t>120ms</a:t>
            </a:r>
            <a:endParaRPr lang="en-US" sz="6000" b="0" u="none" strike="noStrike">
              <a:solidFill>
                <a:srgbClr val="FFFFFF"/>
              </a:solidFill>
              <a:effectLst/>
              <a:uFillTx/>
              <a:latin typeface="OpenSymbol"/>
            </a:endParaRPr>
          </a:p>
        </p:txBody>
      </p:sp>
      <p:sp>
        <p:nvSpPr>
          <p:cNvPr id="93" name="Rectangle 92"/>
          <p:cNvSpPr/>
          <p:nvPr/>
        </p:nvSpPr>
        <p:spPr>
          <a:xfrm>
            <a:off x="819000" y="3467160"/>
            <a:ext cx="2180880" cy="361440"/>
          </a:xfrm>
          <a:prstGeom prst="rect">
            <a:avLst/>
          </a:prstGeom>
          <a:noFill/>
          <a:ln w="0">
            <a:noFill/>
          </a:ln>
        </p:spPr>
        <p:style>
          <a:lnRef idx="0">
            <a:scrgbClr r="0" g="0" b="0"/>
          </a:lnRef>
          <a:fillRef idx="0">
            <a:scrgbClr r="0" g="0" b="0"/>
          </a:fillRef>
          <a:effectRef idx="0">
            <a:scrgbClr r="0" g="0" b="0"/>
          </a:effectRef>
          <a:fontRef idx="minor"/>
        </p:style>
        <p:txBody>
          <a:bodyPr anchor="ctr">
            <a:normAutofit/>
          </a:bodyPr>
          <a:lstStyle/>
          <a:p>
            <a:pPr defTabSz="914400">
              <a:lnSpc>
                <a:spcPct val="100000"/>
              </a:lnSpc>
              <a:tabLst>
                <a:tab pos="0" algn="l"/>
              </a:tabLst>
            </a:pPr>
            <a:r>
              <a:rPr lang="en-US" sz="1400" b="0" u="none" strike="noStrike">
                <a:solidFill>
                  <a:srgbClr val="FFFFFF"/>
                </a:solidFill>
                <a:effectLst/>
                <a:uFillTx/>
                <a:latin typeface="Funnel Sans"/>
              </a:rPr>
              <a:t>Avg API Time (Miss)</a:t>
            </a:r>
            <a:endParaRPr lang="en-US" sz="1400" b="0" u="none" strike="noStrike">
              <a:solidFill>
                <a:srgbClr val="FFFFFF"/>
              </a:solidFill>
              <a:effectLst/>
              <a:uFillTx/>
              <a:latin typeface="OpenSymbol"/>
            </a:endParaRPr>
          </a:p>
        </p:txBody>
      </p:sp>
      <p:sp>
        <p:nvSpPr>
          <p:cNvPr id="94" name="Rectangle 93"/>
          <p:cNvSpPr/>
          <p:nvPr/>
        </p:nvSpPr>
        <p:spPr>
          <a:xfrm>
            <a:off x="3171960" y="3467160"/>
            <a:ext cx="2361960" cy="514080"/>
          </a:xfrm>
          <a:prstGeom prst="rect">
            <a:avLst/>
          </a:prstGeom>
          <a:noFill/>
          <a:ln w="0">
            <a:noFill/>
          </a:ln>
        </p:spPr>
        <p:style>
          <a:lnRef idx="0">
            <a:scrgbClr r="0" g="0" b="0"/>
          </a:lnRef>
          <a:fillRef idx="0">
            <a:scrgbClr r="0" g="0" b="0"/>
          </a:fillRef>
          <a:effectRef idx="0">
            <a:scrgbClr r="0" g="0" b="0"/>
          </a:effectRef>
          <a:fontRef idx="minor"/>
        </p:style>
        <p:txBody>
          <a:bodyPr anchor="ctr">
            <a:normAutofit/>
          </a:bodyPr>
          <a:lstStyle/>
          <a:p>
            <a:pPr defTabSz="914400">
              <a:lnSpc>
                <a:spcPct val="100000"/>
              </a:lnSpc>
              <a:tabLst>
                <a:tab pos="0" algn="l"/>
              </a:tabLst>
            </a:pPr>
            <a:r>
              <a:rPr lang="en-US" sz="1200" b="0" u="none" strike="noStrike">
                <a:solidFill>
                  <a:srgbClr val="FFFFFF"/>
                </a:solidFill>
                <a:effectLst/>
                <a:uFillTx/>
                <a:latin typeface="Funnel Sans"/>
              </a:rPr>
              <a:t>Latency on cache miss is 850ms.</a:t>
            </a:r>
            <a:endParaRPr lang="en-US" sz="1200" b="0" u="none" strike="noStrike">
              <a:solidFill>
                <a:srgbClr val="FFFFFF"/>
              </a:solidFill>
              <a:effectLst/>
              <a:uFillTx/>
              <a:latin typeface="OpenSymbol"/>
            </a:endParaRPr>
          </a:p>
        </p:txBody>
      </p:sp>
      <p:sp>
        <p:nvSpPr>
          <p:cNvPr id="95" name="Rectangle 94"/>
          <p:cNvSpPr/>
          <p:nvPr/>
        </p:nvSpPr>
        <p:spPr>
          <a:xfrm>
            <a:off x="5705640" y="3467160"/>
            <a:ext cx="2619000" cy="1066320"/>
          </a:xfrm>
          <a:prstGeom prst="rect">
            <a:avLst/>
          </a:prstGeom>
          <a:noFill/>
          <a:ln w="0">
            <a:noFill/>
          </a:ln>
        </p:spPr>
        <p:style>
          <a:lnRef idx="0">
            <a:scrgbClr r="0" g="0" b="0"/>
          </a:lnRef>
          <a:fillRef idx="0">
            <a:scrgbClr r="0" g="0" b="0"/>
          </a:fillRef>
          <a:effectRef idx="0">
            <a:scrgbClr r="0" g="0" b="0"/>
          </a:effectRef>
          <a:fontRef idx="minor"/>
        </p:style>
        <p:txBody>
          <a:bodyPr anchor="ctr">
            <a:normAutofit/>
          </a:bodyPr>
          <a:lstStyle/>
          <a:p>
            <a:pPr algn="r" defTabSz="914400">
              <a:lnSpc>
                <a:spcPct val="100000"/>
              </a:lnSpc>
              <a:tabLst>
                <a:tab pos="0" algn="l"/>
              </a:tabLst>
            </a:pPr>
            <a:r>
              <a:rPr lang="en-US" sz="6000" b="0" u="none" strike="noStrike">
                <a:solidFill>
                  <a:srgbClr val="FFFFFF"/>
                </a:solidFill>
                <a:effectLst/>
                <a:uFillTx/>
                <a:latin typeface="Funnel Sans"/>
              </a:rPr>
              <a:t>850ms</a:t>
            </a:r>
            <a:endParaRPr lang="en-US" sz="6000" b="0" u="none" strike="noStrike">
              <a:solidFill>
                <a:srgbClr val="FFFFFF"/>
              </a:solidFill>
              <a:effectLst/>
              <a:uFillTx/>
              <a:latin typeface="OpenSymbo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Rectangle: Rounded Corners 95"/>
          <p:cNvSpPr/>
          <p:nvPr/>
        </p:nvSpPr>
        <p:spPr>
          <a:xfrm>
            <a:off x="2219400" y="2152800"/>
            <a:ext cx="104400" cy="9000"/>
          </a:xfrm>
          <a:prstGeom prst="roundRect">
            <a:avLst>
              <a:gd name="adj" fmla="val 16667"/>
            </a:avLst>
          </a:prstGeom>
          <a:solidFill>
            <a:srgbClr val="D9D9D9"/>
          </a:solidFill>
          <a:ln w="0">
            <a:noFill/>
          </a:ln>
        </p:spPr>
        <p:style>
          <a:lnRef idx="0">
            <a:scrgbClr r="0" g="0" b="0"/>
          </a:lnRef>
          <a:fillRef idx="0">
            <a:scrgbClr r="0" g="0" b="0"/>
          </a:fillRef>
          <a:effectRef idx="0">
            <a:scrgbClr r="0" g="0" b="0"/>
          </a:effectRef>
          <a:fontRef idx="minor"/>
        </p:style>
        <p:txBody>
          <a:bodyPr vertOverflow="clip" lIns="90000" tIns="-36720" rIns="90000" bIns="-36720" anchor="ctr">
            <a:noAutofit/>
          </a:bodyPr>
          <a:lstStyle/>
          <a:p>
            <a:pPr algn="ctr" defTabSz="914400">
              <a:lnSpc>
                <a:spcPct val="100000"/>
              </a:lnSpc>
            </a:pPr>
            <a:endParaRPr lang="en-US" sz="1800" b="0" u="none" strike="noStrike">
              <a:solidFill>
                <a:srgbClr val="000000"/>
              </a:solidFill>
              <a:effectLst/>
              <a:uFillTx/>
              <a:latin typeface="OpenSymbol"/>
            </a:endParaRPr>
          </a:p>
        </p:txBody>
      </p:sp>
      <p:sp>
        <p:nvSpPr>
          <p:cNvPr id="97" name="Rectangle: Rounded Corners 96"/>
          <p:cNvSpPr/>
          <p:nvPr/>
        </p:nvSpPr>
        <p:spPr>
          <a:xfrm>
            <a:off x="3714840" y="2152800"/>
            <a:ext cx="104400" cy="9000"/>
          </a:xfrm>
          <a:prstGeom prst="roundRect">
            <a:avLst>
              <a:gd name="adj" fmla="val 16667"/>
            </a:avLst>
          </a:prstGeom>
          <a:solidFill>
            <a:srgbClr val="D9D9D9"/>
          </a:solidFill>
          <a:ln w="0">
            <a:noFill/>
          </a:ln>
        </p:spPr>
        <p:style>
          <a:lnRef idx="0">
            <a:scrgbClr r="0" g="0" b="0"/>
          </a:lnRef>
          <a:fillRef idx="0">
            <a:scrgbClr r="0" g="0" b="0"/>
          </a:fillRef>
          <a:effectRef idx="0">
            <a:scrgbClr r="0" g="0" b="0"/>
          </a:effectRef>
          <a:fontRef idx="minor"/>
        </p:style>
        <p:txBody>
          <a:bodyPr vertOverflow="clip" lIns="90000" tIns="-36720" rIns="90000" bIns="-36720" anchor="ctr">
            <a:noAutofit/>
          </a:bodyPr>
          <a:lstStyle/>
          <a:p>
            <a:pPr algn="ctr" defTabSz="914400">
              <a:lnSpc>
                <a:spcPct val="100000"/>
              </a:lnSpc>
            </a:pPr>
            <a:endParaRPr lang="en-US" sz="1800" b="0" u="none" strike="noStrike">
              <a:solidFill>
                <a:srgbClr val="000000"/>
              </a:solidFill>
              <a:effectLst/>
              <a:uFillTx/>
              <a:latin typeface="OpenSymbol"/>
            </a:endParaRPr>
          </a:p>
        </p:txBody>
      </p:sp>
      <p:sp>
        <p:nvSpPr>
          <p:cNvPr id="98" name="Rectangle: Rounded Corners 97"/>
          <p:cNvSpPr/>
          <p:nvPr/>
        </p:nvSpPr>
        <p:spPr>
          <a:xfrm>
            <a:off x="5219640" y="2152800"/>
            <a:ext cx="104400" cy="9000"/>
          </a:xfrm>
          <a:prstGeom prst="roundRect">
            <a:avLst>
              <a:gd name="adj" fmla="val 16667"/>
            </a:avLst>
          </a:prstGeom>
          <a:solidFill>
            <a:srgbClr val="D9D9D9"/>
          </a:solidFill>
          <a:ln w="0">
            <a:noFill/>
          </a:ln>
        </p:spPr>
        <p:style>
          <a:lnRef idx="0">
            <a:scrgbClr r="0" g="0" b="0"/>
          </a:lnRef>
          <a:fillRef idx="0">
            <a:scrgbClr r="0" g="0" b="0"/>
          </a:fillRef>
          <a:effectRef idx="0">
            <a:scrgbClr r="0" g="0" b="0"/>
          </a:effectRef>
          <a:fontRef idx="minor"/>
        </p:style>
        <p:txBody>
          <a:bodyPr vertOverflow="clip" lIns="90000" tIns="-36720" rIns="90000" bIns="-36720" anchor="ctr">
            <a:noAutofit/>
          </a:bodyPr>
          <a:lstStyle/>
          <a:p>
            <a:pPr algn="ctr" defTabSz="914400">
              <a:lnSpc>
                <a:spcPct val="100000"/>
              </a:lnSpc>
            </a:pPr>
            <a:endParaRPr lang="en-US" sz="1800" b="0" u="none" strike="noStrike">
              <a:solidFill>
                <a:srgbClr val="000000"/>
              </a:solidFill>
              <a:effectLst/>
              <a:uFillTx/>
              <a:latin typeface="OpenSymbol"/>
            </a:endParaRPr>
          </a:p>
        </p:txBody>
      </p:sp>
      <p:sp>
        <p:nvSpPr>
          <p:cNvPr id="99" name="Rectangle: Rounded Corners 98"/>
          <p:cNvSpPr/>
          <p:nvPr/>
        </p:nvSpPr>
        <p:spPr>
          <a:xfrm>
            <a:off x="6724800" y="2152800"/>
            <a:ext cx="104400" cy="9000"/>
          </a:xfrm>
          <a:prstGeom prst="roundRect">
            <a:avLst>
              <a:gd name="adj" fmla="val 16667"/>
            </a:avLst>
          </a:prstGeom>
          <a:solidFill>
            <a:srgbClr val="D9D9D9"/>
          </a:solidFill>
          <a:ln w="0">
            <a:noFill/>
          </a:ln>
        </p:spPr>
        <p:style>
          <a:lnRef idx="0">
            <a:scrgbClr r="0" g="0" b="0"/>
          </a:lnRef>
          <a:fillRef idx="0">
            <a:scrgbClr r="0" g="0" b="0"/>
          </a:fillRef>
          <a:effectRef idx="0">
            <a:scrgbClr r="0" g="0" b="0"/>
          </a:effectRef>
          <a:fontRef idx="minor"/>
        </p:style>
        <p:txBody>
          <a:bodyPr vertOverflow="clip" lIns="90000" tIns="-36720" rIns="90000" bIns="-36720" anchor="ctr">
            <a:noAutofit/>
          </a:bodyPr>
          <a:lstStyle/>
          <a:p>
            <a:pPr algn="ctr" defTabSz="914400">
              <a:lnSpc>
                <a:spcPct val="100000"/>
              </a:lnSpc>
            </a:pPr>
            <a:endParaRPr lang="en-US" sz="1800" b="0" u="none" strike="noStrike">
              <a:solidFill>
                <a:srgbClr val="000000"/>
              </a:solidFill>
              <a:effectLst/>
              <a:uFillTx/>
              <a:latin typeface="OpenSymbol"/>
            </a:endParaRPr>
          </a:p>
        </p:txBody>
      </p:sp>
      <p:sp>
        <p:nvSpPr>
          <p:cNvPr id="100" name="Rectangle: Rounded Corners 99"/>
          <p:cNvSpPr/>
          <p:nvPr/>
        </p:nvSpPr>
        <p:spPr>
          <a:xfrm>
            <a:off x="819000" y="2066760"/>
            <a:ext cx="1399680" cy="180720"/>
          </a:xfrm>
          <a:prstGeom prst="roundRect">
            <a:avLst>
              <a:gd name="adj" fmla="val 16667"/>
            </a:avLst>
          </a:prstGeom>
          <a:noFill/>
          <a:ln w="9525">
            <a:solidFill>
              <a:srgbClr val="FFFFFF"/>
            </a:solidFill>
            <a:round/>
          </a:ln>
        </p:spPr>
        <p:style>
          <a:lnRef idx="0">
            <a:scrgbClr r="0" g="0" b="0"/>
          </a:lnRef>
          <a:fillRef idx="0">
            <a:scrgbClr r="0" g="0" b="0"/>
          </a:fillRef>
          <a:effectRef idx="0">
            <a:scrgbClr r="0" g="0" b="0"/>
          </a:effectRef>
          <a:fontRef idx="minor"/>
        </p:style>
        <p:txBody>
          <a:bodyPr vertOverflow="clip" lIns="90000" tIns="45000" rIns="90000" bIns="45000" anchor="ctr">
            <a:noAutofit/>
          </a:bodyPr>
          <a:lstStyle/>
          <a:p>
            <a:pPr algn="ctr" defTabSz="914400">
              <a:lnSpc>
                <a:spcPct val="100000"/>
              </a:lnSpc>
            </a:pPr>
            <a:endParaRPr lang="en-US" sz="1800" b="0" u="none" strike="noStrike">
              <a:solidFill>
                <a:srgbClr val="FFFFFF"/>
              </a:solidFill>
              <a:effectLst/>
              <a:uFillTx/>
              <a:latin typeface="OpenSymbol"/>
            </a:endParaRPr>
          </a:p>
        </p:txBody>
      </p:sp>
      <p:sp>
        <p:nvSpPr>
          <p:cNvPr id="101" name="Rectangle: Rounded Corners 100"/>
          <p:cNvSpPr/>
          <p:nvPr/>
        </p:nvSpPr>
        <p:spPr>
          <a:xfrm>
            <a:off x="1514520" y="2247840"/>
            <a:ext cx="9000" cy="285480"/>
          </a:xfrm>
          <a:prstGeom prst="roundRect">
            <a:avLst>
              <a:gd name="adj" fmla="val 16667"/>
            </a:avLst>
          </a:prstGeom>
          <a:solidFill>
            <a:srgbClr val="D9D9D9"/>
          </a:solidFill>
          <a:ln w="0">
            <a:noFill/>
          </a:ln>
        </p:spPr>
        <p:style>
          <a:lnRef idx="0">
            <a:scrgbClr r="0" g="0" b="0"/>
          </a:lnRef>
          <a:fillRef idx="0">
            <a:scrgbClr r="0" g="0" b="0"/>
          </a:fillRef>
          <a:effectRef idx="0">
            <a:scrgbClr r="0" g="0" b="0"/>
          </a:effectRef>
          <a:fontRef idx="minor"/>
        </p:style>
        <p:txBody>
          <a:bodyPr vertOverflow="clip" lIns="90000" tIns="45000" rIns="90000" bIns="45000" anchor="ctr">
            <a:noAutofit/>
          </a:bodyPr>
          <a:lstStyle/>
          <a:p>
            <a:pPr algn="ctr" defTabSz="914400">
              <a:lnSpc>
                <a:spcPct val="100000"/>
              </a:lnSpc>
            </a:pPr>
            <a:endParaRPr lang="en-US" sz="1800" b="0" u="none" strike="noStrike">
              <a:solidFill>
                <a:srgbClr val="000000"/>
              </a:solidFill>
              <a:effectLst/>
              <a:uFillTx/>
              <a:latin typeface="OpenSymbol"/>
            </a:endParaRPr>
          </a:p>
        </p:txBody>
      </p:sp>
      <p:sp>
        <p:nvSpPr>
          <p:cNvPr id="102" name="Rectangle: Rounded Corners 101"/>
          <p:cNvSpPr/>
          <p:nvPr/>
        </p:nvSpPr>
        <p:spPr>
          <a:xfrm>
            <a:off x="2324160" y="2066760"/>
            <a:ext cx="1390320" cy="180720"/>
          </a:xfrm>
          <a:prstGeom prst="roundRect">
            <a:avLst>
              <a:gd name="adj" fmla="val 16667"/>
            </a:avLst>
          </a:prstGeom>
          <a:noFill/>
          <a:ln w="9525">
            <a:solidFill>
              <a:srgbClr val="FFFFFF"/>
            </a:solidFill>
            <a:round/>
          </a:ln>
        </p:spPr>
        <p:style>
          <a:lnRef idx="0">
            <a:scrgbClr r="0" g="0" b="0"/>
          </a:lnRef>
          <a:fillRef idx="0">
            <a:scrgbClr r="0" g="0" b="0"/>
          </a:fillRef>
          <a:effectRef idx="0">
            <a:scrgbClr r="0" g="0" b="0"/>
          </a:effectRef>
          <a:fontRef idx="minor"/>
        </p:style>
        <p:txBody>
          <a:bodyPr vertOverflow="clip" lIns="90000" tIns="45000" rIns="90000" bIns="45000" anchor="ctr">
            <a:noAutofit/>
          </a:bodyPr>
          <a:lstStyle/>
          <a:p>
            <a:pPr algn="ctr" defTabSz="914400">
              <a:lnSpc>
                <a:spcPct val="100000"/>
              </a:lnSpc>
            </a:pPr>
            <a:endParaRPr lang="en-US" sz="1800" b="0" u="none" strike="noStrike">
              <a:solidFill>
                <a:srgbClr val="FFFFFF"/>
              </a:solidFill>
              <a:effectLst/>
              <a:uFillTx/>
              <a:latin typeface="OpenSymbol"/>
            </a:endParaRPr>
          </a:p>
        </p:txBody>
      </p:sp>
      <p:sp>
        <p:nvSpPr>
          <p:cNvPr id="103" name="Rectangle: Rounded Corners 102"/>
          <p:cNvSpPr/>
          <p:nvPr/>
        </p:nvSpPr>
        <p:spPr>
          <a:xfrm>
            <a:off x="3019320" y="2247840"/>
            <a:ext cx="9000" cy="285480"/>
          </a:xfrm>
          <a:prstGeom prst="roundRect">
            <a:avLst>
              <a:gd name="adj" fmla="val 16667"/>
            </a:avLst>
          </a:prstGeom>
          <a:solidFill>
            <a:srgbClr val="D9D9D9"/>
          </a:solidFill>
          <a:ln w="0">
            <a:noFill/>
          </a:ln>
        </p:spPr>
        <p:style>
          <a:lnRef idx="0">
            <a:scrgbClr r="0" g="0" b="0"/>
          </a:lnRef>
          <a:fillRef idx="0">
            <a:scrgbClr r="0" g="0" b="0"/>
          </a:fillRef>
          <a:effectRef idx="0">
            <a:scrgbClr r="0" g="0" b="0"/>
          </a:effectRef>
          <a:fontRef idx="minor"/>
        </p:style>
        <p:txBody>
          <a:bodyPr vertOverflow="clip" lIns="90000" tIns="45000" rIns="90000" bIns="45000" anchor="ctr">
            <a:noAutofit/>
          </a:bodyPr>
          <a:lstStyle/>
          <a:p>
            <a:pPr algn="ctr" defTabSz="914400">
              <a:lnSpc>
                <a:spcPct val="100000"/>
              </a:lnSpc>
            </a:pPr>
            <a:endParaRPr lang="en-US" sz="1800" b="0" u="none" strike="noStrike">
              <a:solidFill>
                <a:srgbClr val="000000"/>
              </a:solidFill>
              <a:effectLst/>
              <a:uFillTx/>
              <a:latin typeface="OpenSymbol"/>
            </a:endParaRPr>
          </a:p>
        </p:txBody>
      </p:sp>
      <p:sp>
        <p:nvSpPr>
          <p:cNvPr id="104" name="Rectangle: Rounded Corners 103"/>
          <p:cNvSpPr/>
          <p:nvPr/>
        </p:nvSpPr>
        <p:spPr>
          <a:xfrm>
            <a:off x="3819600" y="2066760"/>
            <a:ext cx="1399680" cy="180720"/>
          </a:xfrm>
          <a:prstGeom prst="roundRect">
            <a:avLst>
              <a:gd name="adj" fmla="val 16667"/>
            </a:avLst>
          </a:prstGeom>
          <a:noFill/>
          <a:ln w="9525">
            <a:solidFill>
              <a:srgbClr val="FFFFFF"/>
            </a:solidFill>
            <a:round/>
          </a:ln>
        </p:spPr>
        <p:style>
          <a:lnRef idx="0">
            <a:scrgbClr r="0" g="0" b="0"/>
          </a:lnRef>
          <a:fillRef idx="0">
            <a:scrgbClr r="0" g="0" b="0"/>
          </a:fillRef>
          <a:effectRef idx="0">
            <a:scrgbClr r="0" g="0" b="0"/>
          </a:effectRef>
          <a:fontRef idx="minor"/>
        </p:style>
        <p:txBody>
          <a:bodyPr vertOverflow="clip" lIns="90000" tIns="45000" rIns="90000" bIns="45000" anchor="ctr">
            <a:noAutofit/>
          </a:bodyPr>
          <a:lstStyle/>
          <a:p>
            <a:pPr algn="ctr" defTabSz="914400">
              <a:lnSpc>
                <a:spcPct val="100000"/>
              </a:lnSpc>
            </a:pPr>
            <a:endParaRPr lang="en-US" sz="1800" b="0" u="none" strike="noStrike">
              <a:solidFill>
                <a:srgbClr val="FFFFFF"/>
              </a:solidFill>
              <a:effectLst/>
              <a:uFillTx/>
              <a:latin typeface="OpenSymbol"/>
            </a:endParaRPr>
          </a:p>
        </p:txBody>
      </p:sp>
      <p:sp>
        <p:nvSpPr>
          <p:cNvPr id="105" name="Rectangle: Rounded Corners 104"/>
          <p:cNvSpPr/>
          <p:nvPr/>
        </p:nvSpPr>
        <p:spPr>
          <a:xfrm>
            <a:off x="4524480" y="2247840"/>
            <a:ext cx="9000" cy="285480"/>
          </a:xfrm>
          <a:prstGeom prst="roundRect">
            <a:avLst>
              <a:gd name="adj" fmla="val 16667"/>
            </a:avLst>
          </a:prstGeom>
          <a:solidFill>
            <a:srgbClr val="D9D9D9"/>
          </a:solidFill>
          <a:ln w="0">
            <a:noFill/>
          </a:ln>
        </p:spPr>
        <p:style>
          <a:lnRef idx="0">
            <a:scrgbClr r="0" g="0" b="0"/>
          </a:lnRef>
          <a:fillRef idx="0">
            <a:scrgbClr r="0" g="0" b="0"/>
          </a:fillRef>
          <a:effectRef idx="0">
            <a:scrgbClr r="0" g="0" b="0"/>
          </a:effectRef>
          <a:fontRef idx="minor"/>
        </p:style>
        <p:txBody>
          <a:bodyPr vertOverflow="clip" lIns="90000" tIns="45000" rIns="90000" bIns="45000" anchor="ctr">
            <a:noAutofit/>
          </a:bodyPr>
          <a:lstStyle/>
          <a:p>
            <a:pPr algn="ctr" defTabSz="914400">
              <a:lnSpc>
                <a:spcPct val="100000"/>
              </a:lnSpc>
            </a:pPr>
            <a:endParaRPr lang="en-US" sz="1800" b="0" u="none" strike="noStrike">
              <a:solidFill>
                <a:srgbClr val="000000"/>
              </a:solidFill>
              <a:effectLst/>
              <a:uFillTx/>
              <a:latin typeface="OpenSymbol"/>
            </a:endParaRPr>
          </a:p>
        </p:txBody>
      </p:sp>
      <p:sp>
        <p:nvSpPr>
          <p:cNvPr id="106" name="Rectangle: Rounded Corners 105"/>
          <p:cNvSpPr/>
          <p:nvPr/>
        </p:nvSpPr>
        <p:spPr>
          <a:xfrm>
            <a:off x="5324400" y="2066760"/>
            <a:ext cx="1399680" cy="180720"/>
          </a:xfrm>
          <a:prstGeom prst="roundRect">
            <a:avLst>
              <a:gd name="adj" fmla="val 16667"/>
            </a:avLst>
          </a:prstGeom>
          <a:noFill/>
          <a:ln w="9525">
            <a:solidFill>
              <a:srgbClr val="FFFFFF"/>
            </a:solidFill>
            <a:round/>
          </a:ln>
        </p:spPr>
        <p:style>
          <a:lnRef idx="0">
            <a:scrgbClr r="0" g="0" b="0"/>
          </a:lnRef>
          <a:fillRef idx="0">
            <a:scrgbClr r="0" g="0" b="0"/>
          </a:fillRef>
          <a:effectRef idx="0">
            <a:scrgbClr r="0" g="0" b="0"/>
          </a:effectRef>
          <a:fontRef idx="minor"/>
        </p:style>
        <p:txBody>
          <a:bodyPr vertOverflow="clip" lIns="90000" tIns="45000" rIns="90000" bIns="45000" anchor="ctr">
            <a:noAutofit/>
          </a:bodyPr>
          <a:lstStyle/>
          <a:p>
            <a:pPr algn="ctr" defTabSz="914400">
              <a:lnSpc>
                <a:spcPct val="100000"/>
              </a:lnSpc>
            </a:pPr>
            <a:endParaRPr lang="en-US" sz="1800" b="0" u="none" strike="noStrike">
              <a:solidFill>
                <a:srgbClr val="FFFFFF"/>
              </a:solidFill>
              <a:effectLst/>
              <a:uFillTx/>
              <a:latin typeface="OpenSymbol"/>
            </a:endParaRPr>
          </a:p>
        </p:txBody>
      </p:sp>
      <p:sp>
        <p:nvSpPr>
          <p:cNvPr id="107" name="Rectangle: Rounded Corners 106"/>
          <p:cNvSpPr/>
          <p:nvPr/>
        </p:nvSpPr>
        <p:spPr>
          <a:xfrm>
            <a:off x="6019920" y="2247840"/>
            <a:ext cx="9000" cy="285480"/>
          </a:xfrm>
          <a:prstGeom prst="roundRect">
            <a:avLst>
              <a:gd name="adj" fmla="val 16667"/>
            </a:avLst>
          </a:prstGeom>
          <a:solidFill>
            <a:srgbClr val="D9D9D9"/>
          </a:solidFill>
          <a:ln w="0">
            <a:noFill/>
          </a:ln>
        </p:spPr>
        <p:style>
          <a:lnRef idx="0">
            <a:scrgbClr r="0" g="0" b="0"/>
          </a:lnRef>
          <a:fillRef idx="0">
            <a:scrgbClr r="0" g="0" b="0"/>
          </a:fillRef>
          <a:effectRef idx="0">
            <a:scrgbClr r="0" g="0" b="0"/>
          </a:effectRef>
          <a:fontRef idx="minor"/>
        </p:style>
        <p:txBody>
          <a:bodyPr vertOverflow="clip" lIns="90000" tIns="45000" rIns="90000" bIns="45000" anchor="ctr">
            <a:noAutofit/>
          </a:bodyPr>
          <a:lstStyle/>
          <a:p>
            <a:pPr algn="ctr" defTabSz="914400">
              <a:lnSpc>
                <a:spcPct val="100000"/>
              </a:lnSpc>
            </a:pPr>
            <a:endParaRPr lang="en-US" sz="1800" b="0" u="none" strike="noStrike">
              <a:solidFill>
                <a:srgbClr val="000000"/>
              </a:solidFill>
              <a:effectLst/>
              <a:uFillTx/>
              <a:latin typeface="OpenSymbol"/>
            </a:endParaRPr>
          </a:p>
        </p:txBody>
      </p:sp>
      <p:sp>
        <p:nvSpPr>
          <p:cNvPr id="108" name="Rectangle: Rounded Corners 107"/>
          <p:cNvSpPr/>
          <p:nvPr/>
        </p:nvSpPr>
        <p:spPr>
          <a:xfrm>
            <a:off x="6829560" y="2066760"/>
            <a:ext cx="1390320" cy="180720"/>
          </a:xfrm>
          <a:prstGeom prst="roundRect">
            <a:avLst>
              <a:gd name="adj" fmla="val 16667"/>
            </a:avLst>
          </a:prstGeom>
          <a:noFill/>
          <a:ln w="9525">
            <a:solidFill>
              <a:srgbClr val="FFFFFF"/>
            </a:solidFill>
            <a:round/>
          </a:ln>
        </p:spPr>
        <p:style>
          <a:lnRef idx="0">
            <a:scrgbClr r="0" g="0" b="0"/>
          </a:lnRef>
          <a:fillRef idx="0">
            <a:scrgbClr r="0" g="0" b="0"/>
          </a:fillRef>
          <a:effectRef idx="0">
            <a:scrgbClr r="0" g="0" b="0"/>
          </a:effectRef>
          <a:fontRef idx="minor"/>
        </p:style>
        <p:txBody>
          <a:bodyPr vertOverflow="clip" lIns="90000" tIns="45000" rIns="90000" bIns="45000" anchor="ctr">
            <a:noAutofit/>
          </a:bodyPr>
          <a:lstStyle/>
          <a:p>
            <a:pPr algn="ctr" defTabSz="914400">
              <a:lnSpc>
                <a:spcPct val="100000"/>
              </a:lnSpc>
            </a:pPr>
            <a:endParaRPr lang="en-US" sz="1800" b="0" u="none" strike="noStrike">
              <a:solidFill>
                <a:srgbClr val="FFFFFF"/>
              </a:solidFill>
              <a:effectLst/>
              <a:uFillTx/>
              <a:latin typeface="OpenSymbol"/>
            </a:endParaRPr>
          </a:p>
        </p:txBody>
      </p:sp>
      <p:sp>
        <p:nvSpPr>
          <p:cNvPr id="109" name="Rectangle: Rounded Corners 108"/>
          <p:cNvSpPr/>
          <p:nvPr/>
        </p:nvSpPr>
        <p:spPr>
          <a:xfrm>
            <a:off x="7524720" y="2247840"/>
            <a:ext cx="9000" cy="285480"/>
          </a:xfrm>
          <a:prstGeom prst="roundRect">
            <a:avLst>
              <a:gd name="adj" fmla="val 16667"/>
            </a:avLst>
          </a:prstGeom>
          <a:solidFill>
            <a:srgbClr val="D9D9D9"/>
          </a:solidFill>
          <a:ln w="0">
            <a:noFill/>
          </a:ln>
        </p:spPr>
        <p:style>
          <a:lnRef idx="0">
            <a:scrgbClr r="0" g="0" b="0"/>
          </a:lnRef>
          <a:fillRef idx="0">
            <a:scrgbClr r="0" g="0" b="0"/>
          </a:fillRef>
          <a:effectRef idx="0">
            <a:scrgbClr r="0" g="0" b="0"/>
          </a:effectRef>
          <a:fontRef idx="minor"/>
        </p:style>
        <p:txBody>
          <a:bodyPr vertOverflow="clip" lIns="90000" tIns="45000" rIns="90000" bIns="45000" anchor="ctr">
            <a:noAutofit/>
          </a:bodyPr>
          <a:lstStyle/>
          <a:p>
            <a:pPr algn="ctr" defTabSz="914400">
              <a:lnSpc>
                <a:spcPct val="100000"/>
              </a:lnSpc>
            </a:pPr>
            <a:endParaRPr lang="en-US" sz="1800" b="0" u="none" strike="noStrike">
              <a:solidFill>
                <a:srgbClr val="000000"/>
              </a:solidFill>
              <a:effectLst/>
              <a:uFillTx/>
              <a:latin typeface="OpenSymbol"/>
            </a:endParaRPr>
          </a:p>
        </p:txBody>
      </p:sp>
      <p:sp>
        <p:nvSpPr>
          <p:cNvPr id="110" name="Rectangle 109"/>
          <p:cNvSpPr/>
          <p:nvPr/>
        </p:nvSpPr>
        <p:spPr>
          <a:xfrm>
            <a:off x="819000" y="628560"/>
            <a:ext cx="7505280" cy="39960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85000" lnSpcReduction="9999"/>
          </a:bodyPr>
          <a:lstStyle/>
          <a:p>
            <a:pPr defTabSz="914400">
              <a:lnSpc>
                <a:spcPct val="100000"/>
              </a:lnSpc>
              <a:tabLst>
                <a:tab pos="0" algn="l"/>
              </a:tabLst>
            </a:pPr>
            <a:r>
              <a:rPr lang="en-US" sz="2600" b="1" u="none" strike="noStrike">
                <a:solidFill>
                  <a:srgbClr val="FFFFFF"/>
                </a:solidFill>
                <a:effectLst/>
                <a:uFillTx/>
                <a:latin typeface="Manrope"/>
              </a:rPr>
              <a:t>Priority Risks</a:t>
            </a:r>
            <a:endParaRPr lang="en-US" sz="2600" b="0" u="none" strike="noStrike">
              <a:solidFill>
                <a:srgbClr val="FFFFFF"/>
              </a:solidFill>
              <a:effectLst/>
              <a:uFillTx/>
              <a:latin typeface="OpenSymbol"/>
            </a:endParaRPr>
          </a:p>
        </p:txBody>
      </p:sp>
      <p:sp>
        <p:nvSpPr>
          <p:cNvPr id="111" name="Rectangle 110"/>
          <p:cNvSpPr/>
          <p:nvPr/>
        </p:nvSpPr>
        <p:spPr>
          <a:xfrm>
            <a:off x="819000" y="1371600"/>
            <a:ext cx="1399680" cy="58068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algn="ctr" defTabSz="914400">
              <a:lnSpc>
                <a:spcPct val="100000"/>
              </a:lnSpc>
              <a:tabLst>
                <a:tab pos="0" algn="l"/>
              </a:tabLst>
            </a:pPr>
            <a:r>
              <a:rPr lang="en-US" sz="1400" b="0" u="none" strike="noStrike">
                <a:solidFill>
                  <a:srgbClr val="FFFFFF"/>
                </a:solidFill>
                <a:effectLst/>
                <a:uFillTx/>
                <a:latin typeface="Manrope"/>
              </a:rPr>
              <a:t>HIBP Rate Limits</a:t>
            </a:r>
            <a:endParaRPr lang="en-US" sz="1400" b="0" u="none" strike="noStrike">
              <a:solidFill>
                <a:srgbClr val="FFFFFF"/>
              </a:solidFill>
              <a:effectLst/>
              <a:uFillTx/>
              <a:latin typeface="OpenSymbol"/>
            </a:endParaRPr>
          </a:p>
        </p:txBody>
      </p:sp>
      <p:sp>
        <p:nvSpPr>
          <p:cNvPr id="112" name="Rectangle 111"/>
          <p:cNvSpPr/>
          <p:nvPr/>
        </p:nvSpPr>
        <p:spPr>
          <a:xfrm>
            <a:off x="819000" y="2610000"/>
            <a:ext cx="1399680" cy="180000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algn="ctr" defTabSz="914400">
              <a:lnSpc>
                <a:spcPct val="100000"/>
              </a:lnSpc>
              <a:tabLst>
                <a:tab pos="0" algn="l"/>
              </a:tabLst>
            </a:pPr>
            <a:r>
              <a:rPr lang="en-US" sz="1200" b="0" u="none" strike="noStrike">
                <a:solidFill>
                  <a:srgbClr val="FFFFFF"/>
                </a:solidFill>
                <a:effectLst/>
                <a:uFillTx/>
                <a:latin typeface="Funnel Sans"/>
              </a:rPr>
              <a:t>Risk: HIBP calls risk. Mitigation: exponential backoff, rate queue, and alerting. Owner: Backend. Timeline: 2–6 weeks.</a:t>
            </a:r>
            <a:endParaRPr lang="en-US" sz="1200" b="0" u="none" strike="noStrike">
              <a:solidFill>
                <a:srgbClr val="FFFFFF"/>
              </a:solidFill>
              <a:effectLst/>
              <a:uFillTx/>
              <a:latin typeface="OpenSymbol"/>
            </a:endParaRPr>
          </a:p>
        </p:txBody>
      </p:sp>
      <p:sp>
        <p:nvSpPr>
          <p:cNvPr id="113" name="Rectangle 112"/>
          <p:cNvSpPr/>
          <p:nvPr/>
        </p:nvSpPr>
        <p:spPr>
          <a:xfrm>
            <a:off x="2324160" y="1371600"/>
            <a:ext cx="1390320" cy="58068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algn="ctr" defTabSz="914400">
              <a:lnSpc>
                <a:spcPct val="100000"/>
              </a:lnSpc>
              <a:tabLst>
                <a:tab pos="0" algn="l"/>
              </a:tabLst>
            </a:pPr>
            <a:r>
              <a:rPr lang="en-US" sz="1400" b="0" u="none" strike="noStrike">
                <a:solidFill>
                  <a:srgbClr val="FFFFFF"/>
                </a:solidFill>
                <a:effectLst/>
                <a:uFillTx/>
                <a:latin typeface="Manrope"/>
              </a:rPr>
              <a:t>SMTP Deliverability</a:t>
            </a:r>
            <a:endParaRPr lang="en-US" sz="1400" b="0" u="none" strike="noStrike">
              <a:solidFill>
                <a:srgbClr val="FFFFFF"/>
              </a:solidFill>
              <a:effectLst/>
              <a:uFillTx/>
              <a:latin typeface="OpenSymbol"/>
            </a:endParaRPr>
          </a:p>
        </p:txBody>
      </p:sp>
      <p:sp>
        <p:nvSpPr>
          <p:cNvPr id="114" name="Rectangle 113"/>
          <p:cNvSpPr/>
          <p:nvPr/>
        </p:nvSpPr>
        <p:spPr>
          <a:xfrm>
            <a:off x="2324160" y="2610000"/>
            <a:ext cx="1390320" cy="19807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algn="ctr" defTabSz="914400">
              <a:lnSpc>
                <a:spcPct val="100000"/>
              </a:lnSpc>
              <a:tabLst>
                <a:tab pos="0" algn="l"/>
              </a:tabLst>
            </a:pPr>
            <a:r>
              <a:rPr lang="en-US" sz="1200" b="0" u="none" strike="noStrike">
                <a:solidFill>
                  <a:srgbClr val="FFFFFF"/>
                </a:solidFill>
                <a:effectLst/>
                <a:uFillTx/>
                <a:latin typeface="Funnel Sans"/>
              </a:rPr>
              <a:t>Risk: Production emails may fail. Mitigation: migrate to SendGrid/SES and complete deliverability test. Owner: Ops. Timeline: 2–6 weeks.</a:t>
            </a:r>
            <a:endParaRPr lang="en-US" sz="1200" b="0" u="none" strike="noStrike">
              <a:solidFill>
                <a:srgbClr val="FFFFFF"/>
              </a:solidFill>
              <a:effectLst/>
              <a:uFillTx/>
              <a:latin typeface="OpenSymbol"/>
            </a:endParaRPr>
          </a:p>
        </p:txBody>
      </p:sp>
      <p:sp>
        <p:nvSpPr>
          <p:cNvPr id="115" name="Rectangle 114"/>
          <p:cNvSpPr/>
          <p:nvPr/>
        </p:nvSpPr>
        <p:spPr>
          <a:xfrm>
            <a:off x="3819600" y="1371600"/>
            <a:ext cx="1399680" cy="58068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algn="ctr" defTabSz="914400">
              <a:lnSpc>
                <a:spcPct val="100000"/>
              </a:lnSpc>
              <a:tabLst>
                <a:tab pos="0" algn="l"/>
              </a:tabLst>
            </a:pPr>
            <a:r>
              <a:rPr lang="en-US" sz="1400" b="0" u="none" strike="noStrike">
                <a:solidFill>
                  <a:srgbClr val="FFFFFF"/>
                </a:solidFill>
                <a:effectLst/>
                <a:uFillTx/>
                <a:latin typeface="Manrope"/>
              </a:rPr>
              <a:t>Automated Testing</a:t>
            </a:r>
            <a:endParaRPr lang="en-US" sz="1400" b="0" u="none" strike="noStrike">
              <a:solidFill>
                <a:srgbClr val="FFFFFF"/>
              </a:solidFill>
              <a:effectLst/>
              <a:uFillTx/>
              <a:latin typeface="OpenSymbol"/>
            </a:endParaRPr>
          </a:p>
        </p:txBody>
      </p:sp>
      <p:sp>
        <p:nvSpPr>
          <p:cNvPr id="116" name="Rectangle 115"/>
          <p:cNvSpPr/>
          <p:nvPr/>
        </p:nvSpPr>
        <p:spPr>
          <a:xfrm>
            <a:off x="3819600" y="2610000"/>
            <a:ext cx="1399680" cy="216180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algn="ctr" defTabSz="914400">
              <a:lnSpc>
                <a:spcPct val="100000"/>
              </a:lnSpc>
              <a:tabLst>
                <a:tab pos="0" algn="l"/>
              </a:tabLst>
            </a:pPr>
            <a:r>
              <a:rPr lang="en-US" sz="1200" b="0" u="none" strike="noStrike">
                <a:solidFill>
                  <a:srgbClr val="FFFFFF"/>
                </a:solidFill>
                <a:effectLst/>
                <a:uFillTx/>
                <a:latin typeface="Funnel Sans"/>
              </a:rPr>
              <a:t>Risk: No automated testing. Mitigation: add unit, integration, and automated E2E tests. Owner: Engineering. Timeline: 2–6 weeks.</a:t>
            </a:r>
            <a:endParaRPr lang="en-US" sz="1200" b="0" u="none" strike="noStrike">
              <a:solidFill>
                <a:srgbClr val="FFFFFF"/>
              </a:solidFill>
              <a:effectLst/>
              <a:uFillTx/>
              <a:latin typeface="OpenSymbol"/>
            </a:endParaRPr>
          </a:p>
        </p:txBody>
      </p:sp>
      <p:sp>
        <p:nvSpPr>
          <p:cNvPr id="117" name="Rectangle 116"/>
          <p:cNvSpPr/>
          <p:nvPr/>
        </p:nvSpPr>
        <p:spPr>
          <a:xfrm>
            <a:off x="5324400" y="1371600"/>
            <a:ext cx="1399680" cy="58068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algn="ctr" defTabSz="914400">
              <a:lnSpc>
                <a:spcPct val="100000"/>
              </a:lnSpc>
              <a:tabLst>
                <a:tab pos="0" algn="l"/>
              </a:tabLst>
            </a:pPr>
            <a:r>
              <a:rPr lang="en-US" sz="1400" b="0" u="none" strike="noStrike">
                <a:solidFill>
                  <a:srgbClr val="FFFFFF"/>
                </a:solidFill>
                <a:effectLst/>
                <a:uFillTx/>
                <a:latin typeface="Manrope"/>
              </a:rPr>
              <a:t>Security Hardening</a:t>
            </a:r>
            <a:endParaRPr lang="en-US" sz="1400" b="0" u="none" strike="noStrike">
              <a:solidFill>
                <a:srgbClr val="FFFFFF"/>
              </a:solidFill>
              <a:effectLst/>
              <a:uFillTx/>
              <a:latin typeface="OpenSymbol"/>
            </a:endParaRPr>
          </a:p>
        </p:txBody>
      </p:sp>
      <p:sp>
        <p:nvSpPr>
          <p:cNvPr id="118" name="Rectangle 117"/>
          <p:cNvSpPr/>
          <p:nvPr/>
        </p:nvSpPr>
        <p:spPr>
          <a:xfrm>
            <a:off x="5324400" y="2610000"/>
            <a:ext cx="1399680" cy="16189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algn="ctr" defTabSz="914400">
              <a:lnSpc>
                <a:spcPct val="100000"/>
              </a:lnSpc>
              <a:tabLst>
                <a:tab pos="0" algn="l"/>
              </a:tabLst>
            </a:pPr>
            <a:r>
              <a:rPr lang="en-US" sz="1200" b="0" u="none" strike="noStrike">
                <a:solidFill>
                  <a:srgbClr val="FFFFFF"/>
                </a:solidFill>
                <a:effectLst/>
                <a:uFillTx/>
                <a:latin typeface="Funnel Sans"/>
              </a:rPr>
              <a:t>Note: This is listed in risks with owner Security/Engineering; ensure aligns with priority actions and timelines.</a:t>
            </a:r>
            <a:endParaRPr lang="en-US" sz="1200" b="0" u="none" strike="noStrike">
              <a:solidFill>
                <a:srgbClr val="FFFFFF"/>
              </a:solidFill>
              <a:effectLst/>
              <a:uFillTx/>
              <a:latin typeface="OpenSymbol"/>
            </a:endParaRPr>
          </a:p>
        </p:txBody>
      </p:sp>
      <p:sp>
        <p:nvSpPr>
          <p:cNvPr id="119" name="Rectangle 118"/>
          <p:cNvSpPr/>
          <p:nvPr/>
        </p:nvSpPr>
        <p:spPr>
          <a:xfrm>
            <a:off x="6829560" y="1371600"/>
            <a:ext cx="1390320" cy="58068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algn="ctr" defTabSz="914400">
              <a:lnSpc>
                <a:spcPct val="100000"/>
              </a:lnSpc>
              <a:tabLst>
                <a:tab pos="0" algn="l"/>
              </a:tabLst>
            </a:pPr>
            <a:r>
              <a:rPr lang="en-US" sz="1400" b="0" u="none" strike="noStrike">
                <a:solidFill>
                  <a:srgbClr val="FFFFFF"/>
                </a:solidFill>
                <a:effectLst/>
                <a:uFillTx/>
                <a:latin typeface="Manrope"/>
              </a:rPr>
              <a:t>Deployment &amp; Monitoring</a:t>
            </a:r>
            <a:endParaRPr lang="en-US" sz="1400" b="0" u="none" strike="noStrike">
              <a:solidFill>
                <a:srgbClr val="FFFFFF"/>
              </a:solidFill>
              <a:effectLst/>
              <a:uFillTx/>
              <a:latin typeface="OpenSymbol"/>
            </a:endParaRPr>
          </a:p>
        </p:txBody>
      </p:sp>
      <p:sp>
        <p:nvSpPr>
          <p:cNvPr id="120" name="Rectangle 119"/>
          <p:cNvSpPr/>
          <p:nvPr/>
        </p:nvSpPr>
        <p:spPr>
          <a:xfrm>
            <a:off x="6829560" y="2610000"/>
            <a:ext cx="1390320" cy="142848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algn="ctr" defTabSz="914400">
              <a:lnSpc>
                <a:spcPct val="100000"/>
              </a:lnSpc>
              <a:tabLst>
                <a:tab pos="0" algn="l"/>
              </a:tabLst>
            </a:pPr>
            <a:r>
              <a:rPr lang="en-US" sz="1200" b="0" u="none" strike="noStrike">
                <a:solidFill>
                  <a:srgbClr val="FFFFFF"/>
                </a:solidFill>
                <a:effectLst/>
                <a:uFillTx/>
                <a:latin typeface="Funnel Sans"/>
              </a:rPr>
              <a:t>Note: This is listed in risks with owner DevOps; ensure aligns with priority actions and timelines.</a:t>
            </a:r>
            <a:endParaRPr lang="en-US" sz="1200" b="0" u="none" strike="noStrike">
              <a:solidFill>
                <a:srgbClr val="FFFFFF"/>
              </a:solidFill>
              <a:effectLst/>
              <a:uFillTx/>
              <a:latin typeface="OpenSymbo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1" name="Google Shape;224;p28"/>
          <p:cNvGrpSpPr/>
          <p:nvPr/>
        </p:nvGrpSpPr>
        <p:grpSpPr>
          <a:xfrm>
            <a:off x="118440" y="1505520"/>
            <a:ext cx="8907120" cy="3546720"/>
            <a:chOff x="118440" y="1505520"/>
            <a:chExt cx="8907120" cy="3546720"/>
          </a:xfrm>
        </p:grpSpPr>
        <p:sp>
          <p:nvSpPr>
            <p:cNvPr id="122" name="Google Shape;225;p28"/>
            <p:cNvSpPr/>
            <p:nvPr/>
          </p:nvSpPr>
          <p:spPr>
            <a:xfrm>
              <a:off x="118440" y="1505520"/>
              <a:ext cx="8906760" cy="3157920"/>
            </a:xfrm>
            <a:prstGeom prst="roundRect">
              <a:avLst>
                <a:gd name="adj" fmla="val 5521"/>
              </a:avLst>
            </a:prstGeom>
            <a:noFill/>
            <a:ln w="9525">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123" name="Google Shape;226;p28"/>
            <p:cNvSpPr/>
            <p:nvPr/>
          </p:nvSpPr>
          <p:spPr>
            <a:xfrm rot="5400000">
              <a:off x="4471200" y="497880"/>
              <a:ext cx="201600" cy="8906760"/>
            </a:xfrm>
            <a:prstGeom prst="roundRect">
              <a:avLst>
                <a:gd name="adj" fmla="val 50000"/>
              </a:avLst>
            </a:prstGeom>
            <a:noFill/>
            <a:ln w="9525">
              <a:solidFill>
                <a:srgbClr val="00FFA4"/>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24" name="Rectangle 123"/>
          <p:cNvSpPr/>
          <p:nvPr/>
        </p:nvSpPr>
        <p:spPr>
          <a:xfrm>
            <a:off x="723960" y="457200"/>
            <a:ext cx="7705440" cy="34272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70000" lnSpcReduction="19999"/>
          </a:bodyPr>
          <a:lstStyle/>
          <a:p>
            <a:pPr algn="ctr" defTabSz="914400">
              <a:lnSpc>
                <a:spcPct val="100000"/>
              </a:lnSpc>
              <a:tabLst>
                <a:tab pos="0" algn="l"/>
              </a:tabLst>
            </a:pPr>
            <a:r>
              <a:rPr lang="en-US" sz="2700" b="1" u="none" strike="noStrike">
                <a:solidFill>
                  <a:srgbClr val="FFFFFF"/>
                </a:solidFill>
                <a:effectLst/>
                <a:uFillTx/>
                <a:latin typeface="Manrope"/>
              </a:rPr>
              <a:t>Mitigations in Motion</a:t>
            </a:r>
            <a:endParaRPr lang="en-US" sz="2700" b="0" u="none" strike="noStrike">
              <a:solidFill>
                <a:srgbClr val="FFFFFF"/>
              </a:solidFill>
              <a:effectLst/>
              <a:uFillTx/>
              <a:latin typeface="OpenSymbol"/>
            </a:endParaRPr>
          </a:p>
        </p:txBody>
      </p:sp>
      <p:sp>
        <p:nvSpPr>
          <p:cNvPr id="125" name="Rectangle 124"/>
          <p:cNvSpPr/>
          <p:nvPr/>
        </p:nvSpPr>
        <p:spPr>
          <a:xfrm>
            <a:off x="695160" y="1809720"/>
            <a:ext cx="7762680" cy="133308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85000" lnSpcReduction="9999"/>
          </a:bodyPr>
          <a:lstStyle/>
          <a:p>
            <a:pPr defTabSz="914400">
              <a:lnSpc>
                <a:spcPct val="150000"/>
              </a:lnSpc>
              <a:tabLst>
                <a:tab pos="0" algn="l"/>
              </a:tabLst>
            </a:pPr>
            <a:r>
              <a:rPr lang="en-US" sz="1400" b="0" u="none" strike="noStrike">
                <a:solidFill>
                  <a:srgbClr val="FFFFFF"/>
                </a:solidFill>
                <a:effectLst/>
                <a:uFillTx/>
                <a:latin typeface="Funnel Sans"/>
              </a:rPr>
              <a:t>To solidify resilience, we’ve prioritized three concrete fixes.</a:t>
            </a:r>
            <a:endParaRPr lang="en-US" sz="1400" b="0" u="none" strike="noStrike">
              <a:solidFill>
                <a:srgbClr val="FFFFFF"/>
              </a:solidFill>
              <a:effectLst/>
              <a:uFillTx/>
              <a:latin typeface="OpenSymbol"/>
            </a:endParaRPr>
          </a:p>
          <a:p>
            <a:pPr defTabSz="914400">
              <a:lnSpc>
                <a:spcPct val="150000"/>
              </a:lnSpc>
              <a:tabLst>
                <a:tab pos="0" algn="l"/>
              </a:tabLst>
            </a:pPr>
            <a:r>
              <a:rPr lang="en-US" sz="1400" b="0" u="none" strike="noStrike">
                <a:solidFill>
                  <a:srgbClr val="FFFFFF"/>
                </a:solidFill>
                <a:effectLst/>
                <a:uFillTx/>
                <a:latin typeface="Funnel Sans"/>
              </a:rPr>
              <a:t>- Exponential backoff with centralized retry and circuit breaker for HIBP (Backend)</a:t>
            </a:r>
            <a:endParaRPr lang="en-US" sz="1400" b="0" u="none" strike="noStrike">
              <a:solidFill>
                <a:srgbClr val="FFFFFF"/>
              </a:solidFill>
              <a:effectLst/>
              <a:uFillTx/>
              <a:latin typeface="OpenSymbol"/>
            </a:endParaRPr>
          </a:p>
          <a:p>
            <a:pPr defTabSz="914400">
              <a:lnSpc>
                <a:spcPct val="150000"/>
              </a:lnSpc>
              <a:tabLst>
                <a:tab pos="0" algn="l"/>
              </a:tabLst>
            </a:pPr>
            <a:r>
              <a:rPr lang="en-US" sz="1400" b="0" u="none" strike="noStrike">
                <a:solidFill>
                  <a:srgbClr val="FFFFFF"/>
                </a:solidFill>
                <a:effectLst/>
                <a:uFillTx/>
                <a:latin typeface="Funnel Sans"/>
              </a:rPr>
              <a:t>- Move email sending to a transactional provider (SendGrid/SES) with deliverability validation (Ops)</a:t>
            </a:r>
            <a:endParaRPr lang="en-US" sz="1400" b="0" u="none" strike="noStrike">
              <a:solidFill>
                <a:srgbClr val="FFFFFF"/>
              </a:solidFill>
              <a:effectLst/>
              <a:uFillTx/>
              <a:latin typeface="OpenSymbol"/>
            </a:endParaRPr>
          </a:p>
          <a:p>
            <a:pPr defTabSz="914400">
              <a:lnSpc>
                <a:spcPct val="150000"/>
              </a:lnSpc>
              <a:tabLst>
                <a:tab pos="0" algn="l"/>
              </a:tabLst>
            </a:pPr>
            <a:r>
              <a:rPr lang="en-US" sz="1400" b="0" u="none" strike="noStrike">
                <a:solidFill>
                  <a:srgbClr val="FFFFFF"/>
                </a:solidFill>
                <a:effectLst/>
                <a:uFillTx/>
                <a:latin typeface="Funnel Sans"/>
              </a:rPr>
              <a:t>- Add automated unit/integration tests and run a load test to validate Redis caching and DB connection pooling (Engineering)</a:t>
            </a:r>
            <a:endParaRPr lang="en-US" sz="1400" b="0" u="none" strike="noStrike">
              <a:solidFill>
                <a:srgbClr val="FFFFFF"/>
              </a:solidFill>
              <a:effectLst/>
              <a:uFillTx/>
              <a:latin typeface="OpenSymbo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PlaceHolder 1"/>
          <p:cNvSpPr>
            <a:spLocks noGrp="1"/>
          </p:cNvSpPr>
          <p:nvPr>
            <p:ph type="title"/>
          </p:nvPr>
        </p:nvSpPr>
        <p:spPr>
          <a:xfrm>
            <a:off x="2352600" y="777960"/>
            <a:ext cx="4447800" cy="869400"/>
          </a:xfrm>
          <a:prstGeom prst="rect">
            <a:avLst/>
          </a:prstGeom>
          <a:noFill/>
          <a:ln w="0">
            <a:noFill/>
          </a:ln>
        </p:spPr>
        <p:txBody>
          <a:bodyPr lIns="91440" tIns="91440" rIns="91440" bIns="91440" anchor="b">
            <a:spAutoFit/>
          </a:bodyPr>
          <a:lstStyle/>
          <a:p>
            <a:pPr indent="0" algn="ctr">
              <a:lnSpc>
                <a:spcPct val="100000"/>
              </a:lnSpc>
              <a:buNone/>
              <a:tabLst>
                <a:tab pos="0" algn="l"/>
              </a:tabLst>
            </a:pPr>
            <a:r>
              <a:rPr lang="en" sz="4500" b="1" u="none" strike="noStrike">
                <a:solidFill>
                  <a:schemeClr val="dk1"/>
                </a:solidFill>
                <a:effectLst/>
                <a:uFillTx/>
                <a:latin typeface="Manrope"/>
                <a:ea typeface="Manrope"/>
              </a:rPr>
              <a:t>THANKS!</a:t>
            </a:r>
            <a:endParaRPr lang="fr-FR" sz="4500" b="0" u="none" strike="noStrike">
              <a:solidFill>
                <a:schemeClr val="dk1"/>
              </a:solidFill>
              <a:effectLst/>
              <a:uFillTx/>
              <a:latin typeface="Arial"/>
            </a:endParaRPr>
          </a:p>
        </p:txBody>
      </p:sp>
      <p:pic>
        <p:nvPicPr>
          <p:cNvPr id="3" name="Picture 2">
            <a:extLst>
              <a:ext uri="{FF2B5EF4-FFF2-40B4-BE49-F238E27FC236}">
                <a16:creationId xmlns:a16="http://schemas.microsoft.com/office/drawing/2014/main" id="{D586CCB4-ED94-B6EB-9EFF-B6F311862F5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62897" y="3671568"/>
            <a:ext cx="6137189" cy="815411"/>
          </a:xfrm>
          <a:prstGeom prst="rect">
            <a:avLst/>
          </a:prstGeom>
        </p:spPr>
      </p:pic>
    </p:spTree>
  </p:cSld>
  <p:clrMapOvr>
    <a:masterClrMapping/>
  </p:clrMapOvr>
</p:sld>
</file>

<file path=ppt/theme/theme1.xml><?xml version="1.0" encoding="utf-8"?>
<a:theme xmlns:a="http://schemas.openxmlformats.org/drawingml/2006/main" name="Computer Architecture by Slidesgo">
  <a:themeElements>
    <a:clrScheme name="Simple Light">
      <a:dk1>
        <a:srgbClr val="FFFFFF"/>
      </a:dk1>
      <a:lt1>
        <a:srgbClr val="0E0E0E"/>
      </a:lt1>
      <a:dk2>
        <a:srgbClr val="FFFFFF"/>
      </a:dk2>
      <a:lt2>
        <a:srgbClr val="222222"/>
      </a:lt2>
      <a:accent1>
        <a:srgbClr val="D9D9D9"/>
      </a:accent1>
      <a:accent2>
        <a:srgbClr val="00FFA4"/>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TotalTime>
  <Words>671</Words>
  <Application>Microsoft Office PowerPoint</Application>
  <PresentationFormat>On-screen Show (16:9)</PresentationFormat>
  <Paragraphs>71</Paragraphs>
  <Slides>11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vt:i4>
      </vt:variant>
    </vt:vector>
  </HeadingPairs>
  <TitlesOfParts>
    <vt:vector size="19" baseType="lpstr">
      <vt:lpstr>Arial</vt:lpstr>
      <vt:lpstr>Funnel Sans</vt:lpstr>
      <vt:lpstr>Funnel Sans Light</vt:lpstr>
      <vt:lpstr>Manrope</vt:lpstr>
      <vt:lpstr>OpenSymbol</vt:lpstr>
      <vt:lpstr>Symbol</vt:lpstr>
      <vt:lpstr>Wingdings</vt:lpstr>
      <vt:lpstr>Computer Architecture by Slidesgo</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THANKS!</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rishabh00b@outlook.com</cp:lastModifiedBy>
  <cp:revision>2</cp:revision>
  <dcterms:modified xsi:type="dcterms:W3CDTF">2026-07-22T16:07:52Z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2026-07-22T16:03:55Z</dcterms:created>
  <dc:creator>Slidesgo AI</dc:creator>
  <dc:description/>
  <dc:language>en-US</dc:language>
  <cp:lastModifiedBy>Unknown Creator</cp:lastModifiedBy>
  <dcterms:modified xsi:type="dcterms:W3CDTF">2026-07-22T16:03:55Z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11</vt:r8>
  </property>
  <property fmtid="{D5CDD505-2E9C-101B-9397-08002B2CF9AE}" pid="3" name="SlidesgoGeneratedBy">
    <vt:lpwstr>slidesgo-ai</vt:lpwstr>
  </property>
  <property fmtid="{D5CDD505-2E9C-101B-9397-08002B2CF9AE}" pid="4" name="SlidesgoPresentationUuid">
    <vt:lpwstr>a2522001-8355-46f8-9e9d-3d7ccf7ae1bc</vt:lpwstr>
  </property>
</Properties>
</file>